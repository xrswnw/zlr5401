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93" r:id="rId6"/>
    <p:sldId id="294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/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-640080" y="-685800"/>
            <a:ext cx="4937760" cy="3703320"/>
          </a:xfrm>
          <a:prstGeom prst="rect">
            <a:avLst/>
          </a:prstGeom>
        </p:spPr>
      </p:pic>
      <p:pic>
        <p:nvPicPr>
          <p:cNvPr id="3" name="Image 1" descr="assets/wash_left.png"/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 flipH="1" flipV="1">
            <a:off x="7891272" y="3794760"/>
            <a:ext cx="4937760" cy="37033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538728" y="1234440"/>
            <a:ext cx="5120640" cy="4389120"/>
          </a:xfrm>
          <a:prstGeom prst="hexagon">
            <a:avLst/>
          </a:prstGeom>
          <a:solidFill>
            <a:srgbClr val="FDFCFA">
              <a:alpha val="92000"/>
            </a:srgbClr>
          </a:solidFill>
          <a:ln w="19050">
            <a:solidFill>
              <a:srgbClr val="C8B27E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931920" y="1828800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300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ZLR5401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3931920" y="2651760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3A3A38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应用层通信协议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3931920" y="365760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V1.2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2441448" y="6172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帧格式 · 系统层命令 · UHF 控制 · AM 控制 · 解锁命令 · 灯控映射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概述 · 通信帧格式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109167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设备经 UART / USB / 以太网与上位机通信，采用统一的请求—响应帧协议。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设备从哪个通道收到请求，就在哪个通道返回响应；设备亦会主动推送解锁过程事件帧。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除特别说明外，多字节整数低字节在前（小端）；每帧以 CRC-32 校验结尾。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788920"/>
            <a:ext cx="1371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帧头
</a:t>
            </a: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B
</a:t>
            </a:r>
            <a:r>
              <a:rPr lang="en-US" sz="10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0x7753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920240" y="2788920"/>
            <a:ext cx="123444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20240" y="2788920"/>
            <a:ext cx="12344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
</a:t>
            </a: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B
</a:t>
            </a:r>
            <a:r>
              <a:rPr lang="en-US" sz="10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0xFF 广播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154680" y="2788920"/>
            <a:ext cx="1234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2788920"/>
            <a:ext cx="12344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
</a:t>
            </a: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B
</a:t>
            </a:r>
            <a:r>
              <a:rPr lang="en-US" sz="10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0x00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89120" y="2788920"/>
            <a:ext cx="137160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0" y="2788920"/>
            <a:ext cx="1371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
</a:t>
            </a: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B
</a:t>
            </a:r>
            <a:r>
              <a:rPr lang="en-US" sz="10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载荷长度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76072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788920"/>
            <a:ext cx="1371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功能码
</a:t>
            </a: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B
</a:t>
            </a:r>
            <a:r>
              <a:rPr lang="en-US" sz="10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见命令表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132320" y="2788920"/>
            <a:ext cx="283464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2788920"/>
            <a:ext cx="28346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
</a:t>
            </a: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0~1024 B
</a:t>
            </a:r>
            <a:r>
              <a:rPr lang="en-US" sz="10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随命令而定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96696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66960" y="2788920"/>
            <a:ext cx="1371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CRC32
</a:t>
            </a: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B
</a:t>
            </a:r>
            <a:r>
              <a:rPr lang="en-US" sz="10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402336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 = 功能码(1) + 数据 + CRC(4) 的总字节数（小端）。请求功能码 = 命令码；响应功能码 = 请求功能码按位取反（FC ^ 0xFF），据此区分请求与响应。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48640" y="45720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通用约定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548640" y="4901184"/>
          <a:ext cx="5577840" cy="1243584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338328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err（data[1]）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所有子命令响应的第 2 字节；0 = 成功，非 0 见各类错误码表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回显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所有子命令响应回显请求的子命令码（data[0]）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位图 bitmap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解锁类多标签结果位图；bit n = 第 n 张期望标签已确认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6400800" y="457200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版本说明</a:t>
            </a:r>
            <a:endParaRPr lang="en-US" sz="1300" dirty="0"/>
          </a:p>
        </p:txBody>
      </p:sp>
      <p:graphicFrame>
        <p:nvGraphicFramePr>
          <p:cNvPr id="24" name="Table 1"/>
          <p:cNvGraphicFramePr>
            <a:graphicFrameLocks noGrp="1"/>
          </p:cNvGraphicFramePr>
          <p:nvPr/>
        </p:nvGraphicFramePr>
        <p:xfrm>
          <a:off x="6400800" y="4901184"/>
          <a:ext cx="56052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3410712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V1.0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2026-08-24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初版定版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2026-09-12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增补 CRC 算法与 HID 传输层；修正解锁流程图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2026-09-19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增补行程开关异常灯语（紫 / 黄快闪）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8B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3F5A52"/>
                </a:solidFill>
                <a:latin typeface="Microsoft YaHei"/>
              </a:rPr>
              <a:t>CRC-32 校验算法</a:t>
            </a:r>
            <a:r>
              <a:rPr sz="1200" b="0">
                <a:solidFill>
                  <a:srgbClr val="8A9188"/>
                </a:solidFill>
                <a:latin typeface="Microsoft YaHei"/>
              </a:rPr>
              <a:t>   </a:t>
            </a:r>
            <a:endParaRPr sz="1200" b="0">
              <a:solidFill>
                <a:srgbClr val="8A9188"/>
              </a:solidFill>
              <a:latin typeface="Microsoft YaHe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51560"/>
          <a:ext cx="5852160" cy="2340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393192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参数</a:t>
                      </a:r>
                      <a:endParaRPr sz="1000" b="1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3F5A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取值</a:t>
                      </a:r>
                      <a:endParaRPr sz="1000" b="1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3F5A5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算法名称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CRC-32 / MPEG-2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生成多项式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5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0x04C11DB7（正序 · MSB first）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初值 Init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0xFFFFFFFF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输入反射 RefIn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5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无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输出反射 RefOut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无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结果异或 XorOut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5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无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存放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4 字节小端（低字节在前）追加帧尾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20840" y="1051560"/>
            <a:ext cx="4937760" cy="152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F5A52"/>
                </a:solidFill>
                <a:latin typeface="Microsoft YaHei"/>
              </a:rPr>
              <a:t>校验范围</a:t>
            </a:r>
            <a:endParaRPr sz="1300" b="1">
              <a:solidFill>
                <a:srgbClr val="3F5A52"/>
              </a:solidFill>
              <a:latin typeface="Microsoft YaHei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A38"/>
                </a:solidFill>
                <a:latin typeface="Microsoft YaHei"/>
              </a:rPr>
              <a:t>自帧头（53 77）起，至数据区末尾止 — 不含 CRC 字段本身；逐字节、按位 MSB first 计算。</a:t>
            </a:r>
            <a:endParaRPr sz="1100" b="0">
              <a:solidFill>
                <a:srgbClr val="3A3A38"/>
              </a:solidFill>
              <a:latin typeface="Microsoft YaHe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3F5A52"/>
                </a:solidFill>
                <a:latin typeface="Microsoft YaHei"/>
              </a:rPr>
              <a:t>验证例</a:t>
            </a:r>
            <a:endParaRPr sz="1300" b="1">
              <a:solidFill>
                <a:srgbClr val="3F5A52"/>
              </a:solidFill>
              <a:latin typeface="Microsoft YaHei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A38"/>
                </a:solidFill>
                <a:latin typeface="Microsoft YaHei"/>
              </a:rPr>
              <a:t>握手请求 53 77 01 00 05 00 01 → CRC = 26 2F 69 C5，线上字节序 C5 69 2F 26。</a:t>
            </a:r>
            <a:endParaRPr sz="1100" b="0">
              <a:solidFill>
                <a:srgbClr val="3A3A38"/>
              </a:solidFill>
              <a:latin typeface="Microsoft YaHei"/>
            </a:endParaRPr>
          </a:p>
          <a:p>
            <a:pPr algn="l">
              <a:spcAft>
                <a:spcPts val="400"/>
              </a:spcAft>
            </a:pPr>
            <a:endParaRPr sz="1000" b="0">
              <a:solidFill>
                <a:srgbClr val="8A9188"/>
              </a:solidFill>
              <a:latin typeface="Microsoft Ya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3520440"/>
            <a:ext cx="11201400" cy="2331720"/>
          </a:xfrm>
          <a:prstGeom prst="roundRect">
            <a:avLst/>
          </a:prstGeom>
          <a:solidFill>
            <a:srgbClr val="EDF2EE"/>
          </a:solidFill>
          <a:ln w="9525">
            <a:solidFill>
              <a:srgbClr val="8A9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F5A52"/>
                </a:solidFill>
                <a:latin typeface="Microsoft YaHei"/>
              </a:rPr>
              <a:t>uint32_t crc32_mpeg2(const uint8_t *p, size_t n)            /* C 参考实现 */</a:t>
            </a:r>
            <a:endParaRPr sz="1100" b="1">
              <a:solidFill>
                <a:srgbClr val="3F5A52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A3A38"/>
                </a:solidFill>
                <a:latin typeface="Microsoft YaHei"/>
              </a:rPr>
              <a:t>{</a:t>
            </a:r>
            <a:endParaRPr sz="1100" b="0">
              <a:solidFill>
                <a:srgbClr val="3A3A38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A3A38"/>
                </a:solidFill>
                <a:latin typeface="Microsoft YaHei"/>
              </a:rPr>
              <a:t>    uint32_t crc = 0xFFFFFFFF;</a:t>
            </a:r>
            <a:endParaRPr sz="1100" b="0">
              <a:solidFill>
                <a:srgbClr val="3A3A38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A3A38"/>
                </a:solidFill>
                <a:latin typeface="Microsoft YaHei"/>
              </a:rPr>
              <a:t>    while (n--) {</a:t>
            </a:r>
            <a:endParaRPr sz="1100" b="0">
              <a:solidFill>
                <a:srgbClr val="3A3A38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A3A38"/>
                </a:solidFill>
                <a:latin typeface="Microsoft YaHei"/>
              </a:rPr>
              <a:t>        crc ^= (uint32_t)*p++ &lt;&lt; 24;</a:t>
            </a:r>
            <a:endParaRPr sz="1100" b="0">
              <a:solidFill>
                <a:srgbClr val="3A3A38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A3A38"/>
                </a:solidFill>
                <a:latin typeface="Microsoft YaHei"/>
              </a:rPr>
              <a:t>        for (int i = 0; i &lt; 8; i++)</a:t>
            </a:r>
            <a:endParaRPr sz="1100" b="0">
              <a:solidFill>
                <a:srgbClr val="3A3A38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A3A38"/>
                </a:solidFill>
                <a:latin typeface="Microsoft YaHei"/>
              </a:rPr>
              <a:t>            crc = (crc &amp; 0x80000000) ? (crc &lt;&lt; 1) ^ 0x04C11DB7 : crc &lt;&lt; 1;</a:t>
            </a:r>
            <a:endParaRPr sz="1100" b="0">
              <a:solidFill>
                <a:srgbClr val="3A3A38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A3A38"/>
                </a:solidFill>
                <a:latin typeface="Microsoft YaHei"/>
              </a:rPr>
              <a:t>    }</a:t>
            </a:r>
            <a:endParaRPr sz="1100" b="0">
              <a:solidFill>
                <a:srgbClr val="3A3A38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A3A38"/>
                </a:solidFill>
                <a:latin typeface="Microsoft YaHei"/>
              </a:rPr>
              <a:t>    return crc;          /* 低字节在前（小端）追加帧尾 */</a:t>
            </a:r>
            <a:endParaRPr sz="1100" b="0">
              <a:solidFill>
                <a:srgbClr val="3A3A38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A3A38"/>
                </a:solidFill>
                <a:latin typeface="Microsoft YaHei"/>
              </a:rPr>
              <a:t>}</a:t>
            </a:r>
            <a:endParaRPr sz="1100" b="0">
              <a:solidFill>
                <a:srgbClr val="3A3A38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8B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3F5A52"/>
                </a:solidFill>
                <a:latin typeface="Microsoft YaHei"/>
              </a:rPr>
              <a:t>USB HID 传输层</a:t>
            </a:r>
            <a:r>
              <a:rPr sz="1200" b="0">
                <a:solidFill>
                  <a:srgbClr val="8A9188"/>
                </a:solidFill>
                <a:latin typeface="Microsoft YaHei"/>
              </a:rPr>
              <a:t>  </a:t>
            </a:r>
            <a:endParaRPr sz="1200" b="0">
              <a:solidFill>
                <a:srgbClr val="8A9188"/>
              </a:solidFill>
              <a:latin typeface="Microsoft YaHe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51560"/>
          <a:ext cx="11201400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8239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  <a:endParaRPr sz="1000" b="1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3F5A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  <a:endParaRPr sz="1000" b="1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3F5A5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设备标识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VID 0x5377 · PID 0x5378 · 产品名 SwCcrd · bcdDevice 0x0200 · 自供电 100 mA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接口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5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接口 0 · HID 类（class 03 / subclass 00 / protocol 00）· 报告描述符 43 字节 · 无报告 ID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端点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EP1 IN（地址 0x81）· 中断传输 · 64 字节 · 轮询 16 ms　｜　EP2 OUT（地址 0x02）· 中断传输 · 64 字节 · 轮询 16 ms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输出报告（上位机→设备）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5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[0x00] + 帧流（每报告 64 字节，有效载荷 ≤ 63 字节）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输入报告（设备→上位机）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[0x02] + 帧流（每个报告均带此头字节，含续包）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分包规则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5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A38"/>
                          </a:solidFill>
                          <a:latin typeface="Microsoft YaHei"/>
                        </a:rPr>
                        <a:t>帧长 &gt; 63 字节时跨多报告续传，帧流按序拼接；帧与帧首尾相接，按 53 77 同步头与长度域切分</a:t>
                      </a:r>
                      <a:endParaRPr sz="1000" b="0">
                        <a:solidFill>
                          <a:srgbClr val="3A3A38"/>
                        </a:solidFill>
                        <a:latin typeface="Microsoft YaHei"/>
                      </a:endParaRPr>
                    </a:p>
                  </a:txBody>
                  <a:tcPr marL="73152" marR="54864" marT="18288" marB="18288" anchor="t"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246120"/>
            <a:ext cx="11201400" cy="1783080"/>
          </a:xfrm>
          <a:prstGeom prst="roundRect">
            <a:avLst/>
          </a:prstGeom>
          <a:solidFill>
            <a:srgbClr val="EDF2EE"/>
          </a:solidFill>
          <a:ln w="9525">
            <a:solidFill>
              <a:srgbClr val="8A9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3F5A52"/>
                </a:solidFill>
                <a:latin typeface="Microsoft YaHei"/>
              </a:rPr>
              <a:t>完整交互示例 — 握手 0x01（单报告即可承载，剩余字节补零）</a:t>
            </a:r>
            <a:endParaRPr sz="1050" b="1">
              <a:solidFill>
                <a:srgbClr val="3F5A52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A3A38"/>
                </a:solidFill>
                <a:latin typeface="Microsoft YaHei"/>
              </a:rPr>
              <a:t>OUT: 00 53 77 01 00 05 00 01 C5 69 2F 26                          ← [0x00] + 请求帧(11B)</a:t>
            </a:r>
            <a:endParaRPr sz="1050" b="0">
              <a:solidFill>
                <a:srgbClr val="3A3A38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A3A38"/>
                </a:solidFill>
                <a:latin typeface="Microsoft YaHei"/>
              </a:rPr>
              <a:t>IN : 02 53 77 01 00 21 00 FE 00 03 01 1C D9 37 30 38 33 0B 00 39 35 37 39</a:t>
            </a:r>
            <a:endParaRPr sz="1050" b="0">
              <a:solidFill>
                <a:srgbClr val="3A3A38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A3A38"/>
                </a:solidFill>
                <a:latin typeface="Microsoft YaHei"/>
              </a:rPr>
              <a:t>     9D 43 A2 4D 01 00 00 00 00 00 C2 01 00 25 56 0B 38           ← [0x02] + 响应帧(38B)</a:t>
            </a:r>
            <a:endParaRPr sz="1050" b="0">
              <a:solidFill>
                <a:srgbClr val="3A3A38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endParaRPr sz="1050" b="1">
              <a:solidFill>
                <a:srgbClr val="3F5A52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257800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F5A52"/>
                </a:solidFill>
                <a:latin typeface="Microsoft YaHei"/>
              </a:rPr>
              <a:t>时序注意</a:t>
            </a:r>
            <a:endParaRPr sz="1200" b="1">
              <a:solidFill>
                <a:srgbClr val="3F5A52"/>
              </a:solidFill>
              <a:latin typeface="Microsoft YaHei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A38"/>
                </a:solidFill>
                <a:latin typeface="Microsoft YaHei"/>
              </a:rPr>
              <a:t>① 软复位（0x08）后设备 USB 重新枚举，上位机须重连再握手；② 复位后 UHF 模块约 3–5 s 才就绪，期间盘点命令超时，建议先查链路状态（0x21 07）。</a:t>
            </a:r>
            <a:endParaRPr sz="1100" b="0">
              <a:solidFill>
                <a:srgbClr val="3A3A38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命令总览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188720"/>
          <a:ext cx="11091672" cy="3328416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2011680"/>
                <a:gridCol w="6336792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功能码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0x01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系统层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握手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确认链路与设备在线，返回协议版本、UID 等信息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0x07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系统层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设备信息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读取设备地址与硬件 / 软件版本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0x08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系统层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软件复位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设备回 OK 后立即复位重启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0x21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UHF 控制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超高频读写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盘点、读写标签、配置、链路状态、自动扫描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0x22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 控制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消磁器控制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配置读写、链路探测、状态监控、工作模式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0x23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解锁命令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开锁业务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解锁流程、取消、状态与进度查询、事件推送</a:t>
                      </a:r>
                      <a:endParaRPr lang="en-US" sz="13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/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壹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系统层命令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握手 · 设备信息 · 软件复位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握手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系统层 · 0x01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0x01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确认通信链路与设备在线。用于上电初始化或断线重连后的设备发现。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（无）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为空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4160520" y="2679192"/>
          <a:ext cx="7479792" cy="2798064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result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= 成功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ProtoVer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协议版本号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Status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设备运行状态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芯片唯一 ID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UidHash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UID 哈希（小端）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Layer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= 应用层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UpgradeCnt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累计升级次数（小端）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BaudRate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当前波特率（小端）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26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为空；设备回 0xFE，含协议版本与 UID，用于确认在线。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FE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D9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37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0B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39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37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39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9D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4D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0B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38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result=0 · ProtoVer=3 · Layer=1 · Baud=115200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设备信息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系统层 · 0x07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0x07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读取设备通信地址与硬件、软件版本字符串，用于版本核对与资产管理。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（无）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为空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4160520" y="2679192"/>
          <a:ext cx="7479792" cy="155448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result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= 成功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Addr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设备通信地址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hwVersion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硬件版本字符串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swVersion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软件版本字符串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2020824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3C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为空；回帧含设备地址与硬件 / 软件版本字符串。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36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5F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56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2E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5F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56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2E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DB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3C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软件复位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系统层 · 0x08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0x08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命令设备软复位。设备先回复 OK，随后立即重启；重启后需重新握手。复位期间请勿下发其他命令。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（无）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为空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result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= 成功（回帧后复位）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08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CA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设备回 result=0 后立即复位重启；重启后需重新握手。</a:t>
            </a:r>
            <a:endParaRPr lang="en-US" sz="950" dirty="0"/>
          </a:p>
        </p:txBody>
      </p:sp>
      <p:sp>
        <p:nvSpPr>
          <p:cNvPr id="10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F7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7B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2A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DB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57800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result=0，回帧后设备复位重启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/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贰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UHF 超高频控制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功能码 0x21 · 子命令随 data[0] 下发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同步盘点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UHF · 0x21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0x21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·03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990215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一次同步盘点：设备内部完成盘点并直接在响应帧内返回全部标签（含 RSSI），无主动上报。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60520" y="1472184"/>
          <a:ext cx="7479792" cy="932688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0x03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timeout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盘点时限 ms（小端）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/>
        </p:nvGraphicFramePr>
        <p:xfrm>
          <a:off x="4160520" y="2990088"/>
          <a:ext cx="7479792" cy="1243584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错误码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count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标签数（小端）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{rssi, epcLen, epc…}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count ×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每张标签：RSSI(1) + EPC 长度(1) + EPC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86987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08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3D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CB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盘点时限 1000 ms（E8 03 小端）；响应帧内直接返回全部标签。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zh-CN" altLang="en-US" sz="900" b="1" dirty="0">
              <a:solidFill>
                <a:srgbClr val="B8965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FF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EB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7E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FF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4F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19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79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3F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A1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· 2 张在位标签，rssi 在前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读标签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UHF · 0x21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0x21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·04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01752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读取标签存储区数据。异步执行：响应只表示已受理，读回数据进入标签缓冲，经 0x0A 拉取。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160520" y="1472184"/>
          <a:ext cx="7479792" cy="1865376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0x04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epcLen + epc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1+n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 EPC（当前版本读首张标签，EPC 为预留）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bank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存储区：1 EPC / 2 TID / 3 USER / 0 保留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addr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起始地址（字）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读取字数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593592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/>
        </p:nvGraphicFramePr>
        <p:xfrm>
          <a:off x="4160520" y="3922776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+ 0 = 已受理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4160520" y="4800600"/>
            <a:ext cx="747979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读回数据（3~16 字节）完成后进入缓冲，以 0x0A 拉取：该项 rssi=0、epcLen=数据长度、epc=数据内容。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352544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56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6A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681728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USER 区（bank=3）地址 0 起 4 字；回帧仅表受理，数据经 0x0A 拉取。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5047488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DB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57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413248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= 已受理；读回数据经 0x0A 拉取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写标签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UHF · 0x21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0x21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·05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59435" y="302641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向标签存储区写入数据。异步下发：响应只表示命令已受理，写结果建议读回核验。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160520" y="1472184"/>
          <a:ext cx="7479792" cy="155448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0x05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epcLen + epc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1+n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 EPC（当前版本写首张标签，EPC 为预留）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bank / addr / len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存储区 / 起始地址（字）/ 写入字节数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len×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写入数据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282696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/>
        </p:nvGraphicFramePr>
        <p:xfrm>
          <a:off x="4160520" y="3611880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+ 0 = 已受理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489704"/>
            <a:ext cx="747979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映射同 0x04：1 EPC / 2 TID / 3 USER / 0 保留。</a:t>
            </a:r>
            <a:endParaRPr lang="en-US" sz="1150" dirty="0"/>
          </a:p>
        </p:txBody>
      </p:sp>
      <p:sp>
        <p:nvSpPr>
          <p:cNvPr id="8" name="Shape 7"/>
          <p:cNvSpPr/>
          <p:nvPr/>
        </p:nvSpPr>
        <p:spPr>
          <a:xfrm>
            <a:off x="548640" y="4096512"/>
            <a:ext cx="3200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352544"/>
            <a:ext cx="298094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1A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56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56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78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837176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向首张标签 USER 区地址 0 写 4 字节 12 34 56 78（受理即回帧）。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5202936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5394960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85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568696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= 命令已受理下发</a:t>
            </a:r>
            <a:endParaRPr lang="zh-CN" altLang="en-US" sz="950" dirty="0">
              <a:solidFill>
                <a:srgbClr val="8A918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停止当前操作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UHF · 0x21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0x21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·06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94005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中止进行中的盘点 / 读 / 写操作。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0x06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/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+ 0 = 成功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8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A8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F7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中止进行中的盘点 / 读 / 写操作。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FC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7B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已停止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链路状态查询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UHF · 0x21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0x21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·07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296285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 UHF 模块链路与工作状态，用于周期性健康检查。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0x07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/>
        </p:nvGraphicFramePr>
        <p:xfrm>
          <a:off x="4160520" y="2679192"/>
          <a:ext cx="7479792" cy="155448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错误码（未上电回 3 NOT READY）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state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模块状态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link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= 链路正常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totalTags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累计读到标签数（≤255）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EA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F3</a:t>
            </a:r>
            <a:endParaRPr lang="en-US" sz="850" dirty="0"/>
          </a:p>
        </p:txBody>
      </p:sp>
      <p:sp>
        <p:nvSpPr>
          <p:cNvPr id="8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查询链路；回帧含链路通断与就绪状态。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0A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D8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52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· state=1 · link=0 · total=2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读配置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UHF · 0x21 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0x21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·08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014345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UHF 模块当前工作配置（发射功率、天线、会话参数、频段等）。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0x08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/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 + 配置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当前配置项（同 0x09 写配置字段）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62456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08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CB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读取当前配置；回帧字段与 0x09 写配置一一对应。</a:t>
            </a:r>
            <a:endParaRPr lang="en-US" sz="950" dirty="0"/>
          </a:p>
        </p:txBody>
      </p:sp>
      <p:sp>
        <p:nvSpPr>
          <p:cNvPr id="8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8B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· 返回当前 7 字节配置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写配置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UHF · 0x21 09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0x21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·09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01752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UHF 模块工作配置并保存。自动扫描进行中时，新配置在下一轮盘点前生效。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4160520" y="1472184"/>
          <a:ext cx="7479792" cy="2798064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0x09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powerDbm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发射功率 dBm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antenna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天线号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checksumEn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CRC 校验使能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session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盘点会话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target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目标标志 A/B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 值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band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频段（按模块支持）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452628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/>
        </p:nvGraphicFramePr>
        <p:xfrm>
          <a:off x="4160520" y="485546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+ 0 = 成功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0D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09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DD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681728"/>
            <a:ext cx="2980944" cy="5577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 26 dBm · 天线 1 · 校验开 · Session 1 · 目标 A · Q=4 · 频段 1。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5221224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8" name="Text 11"/>
          <p:cNvSpPr/>
          <p:nvPr/>
        </p:nvSpPr>
        <p:spPr>
          <a:xfrm>
            <a:off x="658368" y="5413248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09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4A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86984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err=0，配置已接受并保存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读取标签缓冲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UHF · 0x21 0A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0x21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·0A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990215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取走自动扫描缓冲中的标签（含 RSSI）。count = 0 取全部，&gt; 0 取前 count 条。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4160520" y="1472184"/>
          <a:ext cx="7479792" cy="932688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0x0A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count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= 全部；&gt; 0 = 前 count 条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/>
        </p:nvGraphicFramePr>
        <p:xfrm>
          <a:off x="4160520" y="2990088"/>
          <a:ext cx="7479792" cy="932688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 + count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错误码 + 标签数（小端）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{epcLen, rssi, epc…}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count ×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每张：EPC 长度(1) + RSSI(1) + EPC（顺序与 0x03 相反）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86987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7A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8F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count=0：取走自动扫描缓冲内全部标签（含 RSSI）。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FF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4F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19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79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3F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FF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EB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7E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DD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· 2 张缓冲标签，epcLen 在前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天线回波检测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UHF · 0x21 0C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0x21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·0C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94005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主动触发一次天线回波检测，验证天线连接是否正常。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0x0C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/>
        </p:nvGraphicFramePr>
        <p:xfrm>
          <a:off x="4160520" y="2679192"/>
          <a:ext cx="7479792" cy="1243584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+ 0 = 检测通过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antennaOk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= 天线正常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antRl / antVswr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2+2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回波损耗 / 驻波比（高字节在前）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D8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触发一次天线回波检测；err=0 表示天线连接正常。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· antOk=1 · antRl=90 · VSWR=210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启动自动扫描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UHF · 0x21 0D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0x21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·0D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990215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连续盘点并写入缓冲，不主动上报；上位机周期性以 0x0A 拉取。识别到标签蜂鸣 50 ms 提示。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4160520" y="1472184"/>
          <a:ext cx="7479792" cy="932688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cycle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扫描周期 ms（小端）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/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+ 0 = 成功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08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0D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1000 ms 周期连续盘点写入缓冲，配合 0x0A 拉取。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0D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7D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8A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0F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57800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扫描已启动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停止自动扫描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UHF · 0x21 0E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0x21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94005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停止自动扫描并中止当前盘点。缓冲数据仍可用 0x0A 拉取。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0x0E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/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+ 0 = 成功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21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1A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停止自动扫描；缓冲数据仍可用 0x0A 拉取。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0E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38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7D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扫描已停止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UHF 错误码（data[1]）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UHF · 0x21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ERR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0x21 子命令的响应中，data[1] 为错误码；0 表示成功。</a:t>
            </a:r>
            <a:endParaRPr 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4160520" y="1143000"/>
          <a:ext cx="6858000" cy="2340864"/>
        </p:xfrm>
        <a:graphic>
          <a:graphicData uri="http://schemas.openxmlformats.org/drawingml/2006/table">
            <a:tbl>
              <a:tblPr/>
              <a:tblGrid>
                <a:gridCol w="822960"/>
                <a:gridCol w="603504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 OK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参数非法 PARAM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忙 BUSY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未就绪 NOT READY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链路故障 LINK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无标签 NO TAG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超时 TIMEOUT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/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叁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AM 消磁器控制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功能码 0x22 · RS232 通道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读配置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 · 0x22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0x22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·01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00482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读取消磁器当前全部工作配置，字段与写配置（0x02）一致。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/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 + 配置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当前配置（同 0x02 字段）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22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F8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9B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读取消磁器全部工作配置；字段与 0x02 写配置一致。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DD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413248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· thr=10 · hit=5 · mode=2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写配置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 · 0x22 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0x22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·02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01752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设置消磁器工作参数。多字节参数为 16 位（高字节在前）。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4160520" y="1472184"/>
          <a:ext cx="7479792" cy="3730752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threshold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触发电平阈值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命中参数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freq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工作频率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delay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消磁延时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len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脉冲长度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invert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极性反转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sync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同步参数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volt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消磁电压档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工作模式（见 0x07）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mains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电网制式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545896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/>
        </p:nvGraphicFramePr>
        <p:xfrm>
          <a:off x="4160520" y="578815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+ 0 = 成功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22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B6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681728"/>
            <a:ext cx="2980944" cy="5577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 100 · 命中 3 · 频率 50 Hz · 延时 100 ms · 脉宽 10 · 电压档 2 · 模式 0。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5221224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413248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DD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DC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B0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86984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配置已写入并保存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链路探测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 · 0x22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0x22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·05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014345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探测与消磁器的 RS232 链路是否在线，用于开机自检与排障。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0x05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/>
        </p:nvGraphicFramePr>
        <p:xfrm>
          <a:off x="4160520" y="2679192"/>
          <a:ext cx="7479792" cy="932688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错误码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link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= 链路正常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22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88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 RS232 链路；err=0 表示消磁器在线。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08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DD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44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· link=0 链路正常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状态监控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 · 0x22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0x22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·06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014345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读取消磁器运行监控数据。消磁结果：0 空闲 / 1 成功 / 2 失败。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0x06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/>
        </p:nvGraphicFramePr>
        <p:xfrm>
          <a:off x="4160520" y="2679192"/>
          <a:ext cx="7479792" cy="2176272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0x06 回显（无 err 字节）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link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= 链路正常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事件计数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lastEvtMs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最近事件时刻 ms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deact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空闲 / 1 消磁成功 / 2 消磁失败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deactCnt / failCnt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消磁成功 / 失败累计次数（各 4 字节）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22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7B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A8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85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读取运行监控：链路 / 事件计数 / 消磁成败统计（无 err 字节）。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18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DD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0D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0B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link=0 · 空闲态计数全 0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设置工作模式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 · 0x22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0x22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·07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990215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仅切换消磁器工作模式并持久化保存。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4160520" y="1472184"/>
          <a:ext cx="7479792" cy="932688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0x07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检测+消磁 / 1 仅检测 / 2 待机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/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+ 0 = 成功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22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90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切换为模式 0（检测 + 消磁）并持久化保存。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DD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模式已切换并保存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AM 错误码（data[1]）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 · 0x22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ERR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0x22 子命令的响应中，data[1] 为错误码；0 表示成功。</a:t>
            </a:r>
            <a:endParaRPr lang="en-US" sz="13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4160520" y="1143000"/>
          <a:ext cx="6858000" cy="1755648"/>
        </p:xfrm>
        <a:graphic>
          <a:graphicData uri="http://schemas.openxmlformats.org/drawingml/2006/table">
            <a:tbl>
              <a:tblPr/>
              <a:tblGrid>
                <a:gridCol w="822960"/>
                <a:gridCol w="603504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 OK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参数非法 PARAM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忙 BUSY（解锁流程中）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链路故障 LINK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超时 TIMEOUT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/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肆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解锁命令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功能码 0x23 · 含解锁流程图与灯控映射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取消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 · 0x23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0x23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·04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679065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取消当前操作：磁块安全回降，回到空闲。解锁流程进行中仅允许本命令、0x05 状态查询与 0x09 进度查询；解锁中取消立即回 OK，回降完成由 0x0A 终帧报告。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0x04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/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+ 0 = 成功（立即回帧）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23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5E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取消当前解锁流程；磁块安全回降后回帧。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DC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FD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BC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6A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54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状态查询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 · 0x23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0x23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·05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94005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查询开锁业务状态机与计数快照。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0x05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/>
        </p:nvGraphicFramePr>
        <p:xfrm>
          <a:off x="4160520" y="2679192"/>
          <a:ext cx="7479792" cy="155448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错误码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state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空闲 / 1 扫描 / 2 已开锁保持 / 3 软标解码 / 4 完成 / 5 故障 / 6 回降中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hm / sc / su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硬标</a:t>
                      </a:r>
                      <a:r>
                        <a:rPr lang="zh-CN" alt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解锁</a:t>
                      </a: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/ 软标期望 / 软标已解（各 2 字节）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faultReason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最近故障原因诊断码，0 = 无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23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5A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查询状态机；回帧含 state 与硬 / 软标计数快照。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DC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0A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7E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413248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· state=0 空闲 · 计数全 0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进度查询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 · 0x23 09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0x23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·09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02387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解锁流程中拉取实时进度；无流程时 phase = 0、计数全零。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/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0x09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63" name="Table 1"/>
          <p:cNvGraphicFramePr>
            <a:graphicFrameLocks noGrp="1"/>
          </p:cNvGraphicFramePr>
          <p:nvPr/>
        </p:nvGraphicFramePr>
        <p:xfrm>
          <a:off x="4160520" y="2679192"/>
          <a:ext cx="7479792" cy="2176272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 / err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回显 + 错误码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无 / 1 等放标 / 2 校对 / 3 升起 / 4 回降 / 5 软标 / 6 完成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holdMs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自放标触发已过 ms（3 字节小端，未触发为 0）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total / confirmed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软标解锁</a:t>
                      </a: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/ 已确认数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bitmap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确认位图：bit n = 第 n 张已确认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softCnt / softDone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软标已解数 / 软标完成标志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23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1A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6F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拉取实时进度：phase / 解锁窗 / 确认位图 / 软标计数。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DC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09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413248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err=0 · phase=0 · 全零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3"/>
          <p:cNvSpPr/>
          <p:nvPr/>
        </p:nvSpPr>
        <p:spPr>
          <a:xfrm>
            <a:off x="438785" y="4867275"/>
            <a:ext cx="3200400" cy="1673352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  <p:txBody>
          <a:bodyPr/>
          <a:p>
            <a:endParaRPr lang="en-US"/>
          </a:p>
        </p:txBody>
      </p:sp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8785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解锁· 参数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 · 0x23 0A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0x23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·0A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10515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解锁主命令：单帧下发全部期望 EPC 与软标数，设备阻塞自治完成整个解锁流程。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4160520" y="1472184"/>
          <a:ext cx="7479792" cy="2487168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0x0A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tmo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每轮盘点超时 ms（缺省 500，小端）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hold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解锁窗 W 上限 ms（0 = 公式默认，小端）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softCnt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期望软标解码次数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epcCnt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期望硬标签张数 m（≤ 4）；0 = 纯软标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epcLen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每张 EPC 字节长度（≤ 12）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epc…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m×n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张期望 EPC，每张 epcLen 字节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4215384"/>
            <a:ext cx="747979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解锁窗 W：hold = 0 时按公式（首标签 2 min + 每多一张 30 s，上限 4 min）；hold ≠ 0 时取 min(hold, 4 min)。W 兼任放标等待窗（满窗未放标 err=11）；tmo 上限 10 s。纯软标（epcCnt=0 且 softCnt&gt;0）跳过放标与校对，窗口即软标窗 5 min；epcCnt 与 softCnt 均为 0 → err=2。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160520" y="4867275"/>
            <a:ext cx="3200400" cy="1673352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270248" y="4946396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 · 双标签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270248" y="5148072"/>
            <a:ext cx="298094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23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56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56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1B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E8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DB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22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270248" y="5614924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同参数 · 期望 2 张（1A / 1B）。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270248" y="5824093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270248" y="5998337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DC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6E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CE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270248" y="6336411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终帧 err=0 · endReason=2（实测）</a:t>
            </a:r>
            <a:endParaRPr lang="en-US" sz="950" dirty="0"/>
          </a:p>
        </p:txBody>
      </p:sp>
      <p:sp>
        <p:nvSpPr>
          <p:cNvPr id="8" name="Text 7"/>
          <p:cNvSpPr/>
          <p:nvPr/>
        </p:nvSpPr>
        <p:spPr>
          <a:xfrm>
            <a:off x="548513" y="4912614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测试帧 · 单标签</a:t>
            </a:r>
            <a:endParaRPr lang="en-US" sz="1050" dirty="0"/>
          </a:p>
        </p:txBody>
      </p:sp>
      <p:sp>
        <p:nvSpPr>
          <p:cNvPr id="24" name="Text 8"/>
          <p:cNvSpPr/>
          <p:nvPr/>
        </p:nvSpPr>
        <p:spPr>
          <a:xfrm>
            <a:off x="548513" y="5132070"/>
            <a:ext cx="298094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23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56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1A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2D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85</a:t>
            </a:r>
            <a:endParaRPr lang="en-US" sz="850" dirty="0"/>
          </a:p>
        </p:txBody>
      </p:sp>
      <p:sp>
        <p:nvSpPr>
          <p:cNvPr id="25" name="Text 9"/>
          <p:cNvSpPr/>
          <p:nvPr/>
        </p:nvSpPr>
        <p:spPr>
          <a:xfrm>
            <a:off x="548513" y="5616702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 1 s · 窗 30 s · 1 张硬标。</a:t>
            </a:r>
            <a:endParaRPr lang="en-US" sz="950" dirty="0"/>
          </a:p>
        </p:txBody>
      </p:sp>
      <p:sp>
        <p:nvSpPr>
          <p:cNvPr id="26" name="Text 10"/>
          <p:cNvSpPr/>
          <p:nvPr/>
        </p:nvSpPr>
        <p:spPr>
          <a:xfrm>
            <a:off x="548513" y="5808726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响应帧</a:t>
            </a:r>
            <a:endParaRPr lang="en-US" sz="900" dirty="0"/>
          </a:p>
        </p:txBody>
      </p:sp>
      <p:sp>
        <p:nvSpPr>
          <p:cNvPr id="27" name="Text 11"/>
          <p:cNvSpPr/>
          <p:nvPr/>
        </p:nvSpPr>
        <p:spPr>
          <a:xfrm>
            <a:off x="548513" y="6000750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DC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0A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25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7C</a:t>
            </a:r>
            <a:endParaRPr lang="en-US" sz="850" dirty="0"/>
          </a:p>
        </p:txBody>
      </p:sp>
      <p:sp>
        <p:nvSpPr>
          <p:cNvPr id="28" name="Text 12"/>
          <p:cNvSpPr/>
          <p:nvPr/>
        </p:nvSpPr>
        <p:spPr>
          <a:xfrm>
            <a:off x="548513" y="6329934"/>
            <a:ext cx="2980944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终帧 err=0 · endReason=2（实测）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解锁 · 流程推送帧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 · 0x23 0A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0x23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B8965A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·0A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901950"/>
            <a:ext cx="32004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解锁流程中设备主动推送的阶段事件帧（功能码同 0x23 响应方向，data[0] 为下述子码）；流程结束以 0x0A 终帧回显为标志。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/>
        </p:nvGraphicFramePr>
        <p:xfrm>
          <a:off x="4160520" y="1472184"/>
          <a:ext cx="7479792" cy="2176272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0x0F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受理帧：流程已启动，含阶段与解锁窗 winMs（3 字节）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0x0B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确认帧：某张期望 EPC 稳定确认（一张一帧 + 蜂鸣 200 ms）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0x0C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失配帧：外来标签稳定确认（一张一帧，不终止流程）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0x0D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硬标完成帧：硬标段结束（全部确认 / 窗满 / 取消 / 失联）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0x0E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软标帧：软标解码累计数（达期望数即完成）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0x0A 终帧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流程结束：err=0 时含结束原因、位图与各段耗时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904488"/>
            <a:ext cx="747979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解锁态内（受理帧起）除 0x04 取消与 0x05 / 0x09 查询外，其余子命令及 UHF / AM 控制一律回 BUSY。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4246245"/>
            <a:ext cx="3200400" cy="996696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58368" y="4282821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推送帧 · 0x0F 受理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58368" y="4502277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0B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DC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0F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7E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9F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7C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58368" y="4831461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单标签受理推送：phase=1（等放标），窗 W=30 s（30 75 00 小端）。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5334381"/>
            <a:ext cx="3200400" cy="996696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8368" y="5370957"/>
            <a:ext cx="2980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推送帧 · 0x0C 失配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58368" y="5590413"/>
            <a:ext cx="298094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53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77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14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b="1" dirty="0">
                <a:solidFill>
                  <a:srgbClr val="3F5A5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DC </a:t>
            </a:r>
            <a:r>
              <a:rPr lang="en-US" sz="850" b="1" dirty="0">
                <a:solidFill>
                  <a:srgbClr val="B8965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0C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63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A4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00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58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EB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7E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75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</a:t>
            </a:r>
            <a:r>
              <a:rPr lang="en-US" sz="850" dirty="0">
                <a:solidFill>
                  <a:srgbClr val="3A3A3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09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F6 </a:t>
            </a:r>
            <a:r>
              <a:rPr lang="en-US" sz="850" dirty="0">
                <a:solidFill>
                  <a:srgbClr val="8A918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BA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58368" y="5919597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外来标签稳定确认（hits=2）一张一帧，不终止流程。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解锁 · 错误码与结束原因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 · 0x23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ERR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0x0A 终帧 err 字段（左）与 err=0 时的结束原因 endReason（右）。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错误码（0x0A 终帧）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/>
        </p:nvGraphicFramePr>
        <p:xfrm>
          <a:off x="4160520" y="1481328"/>
          <a:ext cx="3566160" cy="2633472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忙 BUSY（须先取消）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参数非法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/ 4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UHF 启动 / 链路失败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未回零 / 行程开关错误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/ 9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电机故障 / 电机超时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 链路故障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放标光电超时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092440" y="114300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结束原因 endReason（err=0）</a:t>
            </a:r>
            <a:endParaRPr lang="en-US" sz="130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/>
        </p:nvGraphicFramePr>
        <p:xfrm>
          <a:off x="8092440" y="1481328"/>
          <a:ext cx="3566160" cy="1755648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ALL_OK：全部标签确认完成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硬标窗满，部分确认（位图明示）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UHF 链路失联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 0x04 取消（已安全回降）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软标窗 5 min 满未校验完成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解锁流程图（0x0A 下发至完成）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 · 0x23 0A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纯软标模式（epcCnt=0）：跳过等放标与 EPC 校对，受理即计时，直接进入升起 + 消磁 + 软解码；软标窗 5 min 满未完成按超时失败结账（endReason=7）。</a:t>
            </a:r>
            <a:endParaRPr lang="en-US" sz="1100" dirty="0"/>
          </a:p>
        </p:txBody>
      </p:sp>
      <p:sp>
        <p:nvSpPr>
          <p:cNvPr id="70" name="Rounded Rectangle 69"/>
          <p:cNvSpPr/>
          <p:nvPr/>
        </p:nvSpPr>
        <p:spPr>
          <a:xfrm>
            <a:off x="4041648" y="868680"/>
            <a:ext cx="2788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67328" y="868680"/>
            <a:ext cx="3337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前置检查（空闲 · 已回零）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041648" y="1271016"/>
            <a:ext cx="2788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67328" y="1271016"/>
            <a:ext cx="3337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下发解锁命令 0x0A（EPC×m · 软标数）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440680" y="1179576"/>
            <a:ext cx="0" cy="91440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4041648" y="1673352"/>
            <a:ext cx="2788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67328" y="1673352"/>
            <a:ext cx="3337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受理 · 推送 0x0F（解锁窗 W）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440680" y="1581912"/>
            <a:ext cx="0" cy="91440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4041648" y="2075688"/>
            <a:ext cx="2788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67328" y="2075688"/>
            <a:ext cx="3337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等待放标（光电门控 · 去抖 200 ms）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440680" y="1984248"/>
            <a:ext cx="0" cy="91440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4041648" y="2478024"/>
            <a:ext cx="2788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67328" y="2478024"/>
            <a:ext cx="3337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周期盘点 · 读取 EPC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5440680" y="2386584"/>
            <a:ext cx="0" cy="91440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Diamond 83"/>
          <p:cNvSpPr/>
          <p:nvPr/>
        </p:nvSpPr>
        <p:spPr>
          <a:xfrm>
            <a:off x="4361688" y="2880360"/>
            <a:ext cx="214884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67328" y="2880360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EPC ∈ 期望清单？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440680" y="2788920"/>
            <a:ext cx="0" cy="91440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4041648" y="3429000"/>
            <a:ext cx="2788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767328" y="3429000"/>
            <a:ext cx="3337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稳定确认：在场 1.5 s + 命中 ≥ 2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440680" y="3337560"/>
            <a:ext cx="0" cy="91440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4041648" y="3831336"/>
            <a:ext cx="2788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67328" y="3831336"/>
            <a:ext cx="3337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确认 n+1 · 推送 0x0B（蜂鸣 · 绿单闪）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5440680" y="3739896"/>
            <a:ext cx="0" cy="91440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Diamond 92"/>
          <p:cNvSpPr/>
          <p:nvPr/>
        </p:nvSpPr>
        <p:spPr>
          <a:xfrm>
            <a:off x="4361688" y="4233672"/>
            <a:ext cx="2148840" cy="4572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767328" y="4233672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n == m（全部确认）？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5440680" y="4142232"/>
            <a:ext cx="0" cy="91440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4041648" y="4782312"/>
            <a:ext cx="2788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767328" y="4782312"/>
            <a:ext cx="3337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升起磁块 + 消磁开启（绿常亮）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440680" y="4690872"/>
            <a:ext cx="0" cy="91440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4041648" y="5184648"/>
            <a:ext cx="2788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767328" y="5184648"/>
            <a:ext cx="3337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硬标段结束 · 推送 0x0D（位图 / 计数）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440680" y="5093208"/>
            <a:ext cx="0" cy="91440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4041648" y="5586984"/>
            <a:ext cx="2788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767328" y="5586984"/>
            <a:ext cx="3337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软标解码 · 推送 0x0E（白常亮 · 窗 5 min）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440680" y="5495544"/>
            <a:ext cx="0" cy="91440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4041648" y="5989320"/>
            <a:ext cx="2788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767328" y="5989320"/>
            <a:ext cx="3337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回降寻触 · 终帧 0x0A 结账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5440680" y="5897880"/>
            <a:ext cx="0" cy="91440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5522976" y="3191256"/>
            <a:ext cx="548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522976" y="4544568"/>
            <a:ext cx="548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01968" y="2880360"/>
            <a:ext cx="548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72768" y="3246120"/>
            <a:ext cx="21945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否 · 继续盘点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49440" y="2368296"/>
            <a:ext cx="11887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回到盘点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3767328" y="2679192"/>
            <a:ext cx="320040" cy="1755648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8092440" y="2633472"/>
            <a:ext cx="3520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211312" y="2633472"/>
            <a:ext cx="3291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外来标签（非期望 EPC）</a:t>
            </a:r>
          </a:p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推送 0x0C 失配帧 · 红快闪 3 s</a:t>
            </a:r>
          </a:p>
          <a:p>
            <a:pPr algn="ctr"/>
            <a:r>
              <a:rPr sz="10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不计入确认 · 不终止流程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6510528" y="3108960"/>
            <a:ext cx="1581912" cy="0"/>
          </a:xfrm>
          <a:prstGeom prst="line">
            <a:avLst/>
          </a:prstGeom>
          <a:ln w="12700">
            <a:solidFill>
              <a:srgbClr val="C8B2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830568" y="2633472"/>
            <a:ext cx="3026664" cy="45720"/>
          </a:xfrm>
          <a:prstGeom prst="line">
            <a:avLst/>
          </a:prstGeom>
          <a:ln w="19050">
            <a:solidFill>
              <a:srgbClr val="8A91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48640" y="91440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A9188"/>
                </a:solidFill>
                <a:latin typeface="Microsoft YaHei"/>
                <a:ea typeface="Microsoft YaHei"/>
                <a:cs typeface="Microsoft YaHei"/>
              </a:rPr>
              <a:t>异常出口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0" y="7315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0080" y="731520"/>
            <a:ext cx="2423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前置失败（忙 / 未回零）</a:t>
            </a:r>
          </a:p>
          <a:p>
            <a:pPr algn="l"/>
            <a:r>
              <a:rPr sz="1000" b="0">
                <a:solidFill>
                  <a:srgbClr val="8A9188"/>
                </a:solidFill>
                <a:latin typeface="Microsoft YaHei"/>
                <a:ea typeface="Microsoft YaHei"/>
                <a:cs typeface="Microsoft YaHei"/>
              </a:rPr>
              <a:t>err = 1 / err = 7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3154680" y="1042415"/>
            <a:ext cx="886968" cy="0"/>
          </a:xfrm>
          <a:prstGeom prst="line">
            <a:avLst/>
          </a:prstGeom>
          <a:ln w="12700">
            <a:solidFill>
              <a:srgbClr val="C8B2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548640" y="192024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0080" y="1920240"/>
            <a:ext cx="2423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放标光电超时</a:t>
            </a:r>
          </a:p>
          <a:p>
            <a:pPr algn="l"/>
            <a:r>
              <a:rPr sz="1000" b="0">
                <a:solidFill>
                  <a:srgbClr val="8A9188"/>
                </a:solidFill>
                <a:latin typeface="Microsoft YaHei"/>
                <a:ea typeface="Microsoft YaHei"/>
                <a:cs typeface="Microsoft YaHei"/>
              </a:rPr>
              <a:t>err = 11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3154680" y="2231136"/>
            <a:ext cx="886968" cy="0"/>
          </a:xfrm>
          <a:prstGeom prst="line">
            <a:avLst/>
          </a:prstGeom>
          <a:ln w="12700">
            <a:solidFill>
              <a:srgbClr val="C8B2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548640" y="3675887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40080" y="3675887"/>
            <a:ext cx="2423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硬标窗 W 满 · 部分确认</a:t>
            </a:r>
          </a:p>
          <a:p>
            <a:pPr algn="l"/>
            <a:r>
              <a:rPr sz="1000" b="0">
                <a:solidFill>
                  <a:srgbClr val="8A9188"/>
                </a:solidFill>
                <a:latin typeface="Microsoft YaHei"/>
                <a:ea typeface="Microsoft YaHei"/>
                <a:cs typeface="Microsoft YaHei"/>
              </a:rPr>
              <a:t>endReason = 2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3154680" y="3986784"/>
            <a:ext cx="886968" cy="0"/>
          </a:xfrm>
          <a:prstGeom prst="line">
            <a:avLst/>
          </a:prstGeom>
          <a:ln w="12700">
            <a:solidFill>
              <a:srgbClr val="C8B2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548640" y="4517136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0080" y="4517136"/>
            <a:ext cx="2423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UHF 失联 5 s</a:t>
            </a:r>
          </a:p>
          <a:p>
            <a:pPr algn="l"/>
            <a:r>
              <a:rPr sz="1000" b="0">
                <a:solidFill>
                  <a:srgbClr val="8A9188"/>
                </a:solidFill>
                <a:latin typeface="Microsoft YaHei"/>
                <a:ea typeface="Microsoft YaHei"/>
                <a:cs typeface="Microsoft YaHei"/>
              </a:rPr>
              <a:t>endReason = 4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3154680" y="4462272"/>
            <a:ext cx="886968" cy="0"/>
          </a:xfrm>
          <a:prstGeom prst="line">
            <a:avLst/>
          </a:prstGeom>
          <a:ln w="12700">
            <a:solidFill>
              <a:srgbClr val="C8B2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548640" y="57607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40080" y="5760720"/>
            <a:ext cx="2423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任意阶段 0x04 取消</a:t>
            </a:r>
          </a:p>
          <a:p>
            <a:pPr algn="l"/>
            <a:r>
              <a:rPr sz="1000" b="0">
                <a:solidFill>
                  <a:srgbClr val="8A9188"/>
                </a:solidFill>
                <a:latin typeface="Microsoft YaHei"/>
                <a:ea typeface="Microsoft YaHei"/>
                <a:cs typeface="Microsoft YaHei"/>
              </a:rPr>
              <a:t>安全回降 · endReason = 6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3154680" y="5742432"/>
            <a:ext cx="886968" cy="0"/>
          </a:xfrm>
          <a:prstGeom prst="line">
            <a:avLst/>
          </a:prstGeom>
          <a:ln w="12700">
            <a:solidFill>
              <a:srgbClr val="C8B2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8092440" y="562356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183879" y="5623560"/>
            <a:ext cx="3337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阶段失败码：err=3/4 UHF 启动或链路 · err=10</a:t>
            </a:r>
          </a:p>
          <a:p>
            <a:pPr algn="l"/>
            <a:r>
              <a:rPr sz="9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AM 链路（softCnt&gt;0 时）· err=8/9 电机（自动回退安全位）。</a:t>
            </a:r>
          </a:p>
          <a:p>
            <a:pPr algn="l"/>
            <a:r>
              <a:rPr sz="900" b="1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解锁态内仅受理 0x04 / 0x05 / 0x09，其余命令一律 BUSY。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灯控映射表（RGB 灯语）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 · 灯语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26680" y="7955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 / 节奏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104120" y="7955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5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26680" y="117043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138160" y="114300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 · 慢闪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104120" y="114300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等待放置标签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26680" y="149047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726680" y="1536192"/>
            <a:ext cx="274320" cy="274320"/>
          </a:xfrm>
          <a:prstGeom prst="ellipse">
            <a:avLst/>
          </a:prstGeom>
          <a:solidFill>
            <a:srgbClr val="4D7CC7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138160" y="150876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 · 慢闪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104120" y="150876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 / 校对进行中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26680" y="1856231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726680" y="1901951"/>
            <a:ext cx="274320" cy="274320"/>
          </a:xfrm>
          <a:prstGeom prst="ellipse">
            <a:avLst/>
          </a:prstGeom>
          <a:solidFill>
            <a:srgbClr val="4D7CC7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138160" y="1874519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 · 单闪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104120" y="1874519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读到一张标签（瞬时提示）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26680" y="2221991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726680" y="2267712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138160" y="224028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 · 单闪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104120" y="224028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一张期望标签确认成功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26680" y="258775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7726680" y="2633472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138160" y="260604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 · 快闪 3 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104120" y="260604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外来（非期望）标签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26680" y="295351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7726680" y="2999232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8138160" y="297180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 · 常亮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0104120" y="297180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已开锁（磁块升起保持）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26680" y="331927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7726680" y="336499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8138160" y="333756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 · 常亮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0104120" y="333756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软标解码等待 / 进行中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726680" y="368503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7726680" y="3730752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138160" y="370332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 · 单闪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10104120" y="370332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软标消磁成功一次（瞬时提示）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726680" y="405079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7726680" y="4096512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8138160" y="406908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 · 三连闪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10104120" y="406908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解锁流程完成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726680" y="441655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7726680" y="4462272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8138160" y="443484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 · 双闪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43484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操作失败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726680" y="478231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7726680" y="4828032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8138160" y="480060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 · 常亮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10104120" y="480060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设备故障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726680" y="514807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7726680" y="5193792"/>
            <a:ext cx="274320" cy="274320"/>
          </a:xfrm>
          <a:prstGeom prst="ellipse">
            <a:avLst/>
          </a:prstGeom>
          <a:solidFill>
            <a:srgbClr val="9B59B6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8138160" y="516636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紫 · 快闪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10104120" y="516636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行程开关异常（下行程）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7726680" y="551383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>
            <a:off x="548640" y="1143000"/>
            <a:ext cx="6720840" cy="4846320"/>
          </a:xfrm>
          <a:prstGeom prst="roundRect">
            <a:avLst>
              <a:gd name="adj" fmla="val 1509"/>
            </a:avLst>
          </a:prstGeom>
          <a:solidFill>
            <a:srgbClr val="FFFFFF">
              <a:alpha val="75000"/>
            </a:srgbClr>
          </a:solidFill>
          <a:ln w="15875">
            <a:solidFill>
              <a:srgbClr val="C8B27E"/>
            </a:solidFill>
            <a:prstDash val="solid"/>
          </a:ln>
        </p:spPr>
        <p:txBody>
          <a:bodyPr/>
          <a:p/>
        </p:txBody>
      </p:sp>
      <p:sp>
        <p:nvSpPr>
          <p:cNvPr id="56" name="Text 53"/>
          <p:cNvSpPr/>
          <p:nvPr/>
        </p:nvSpPr>
        <p:spPr>
          <a:xfrm>
            <a:off x="868680" y="141732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灯语说明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868680" y="1965960"/>
            <a:ext cx="630936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灯语与解锁流程阶段一一对应，操作人员凭灯光颜色与节奏即可判断当前进度。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确认（绿单闪）与失配（红快闪）为瞬时提示，闪毕回落当前阶段的稳态灯语。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上位机可以 0x24 手动设置灯色（设备空闲时），10 s 后自动回收，业务灯语优先。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红灯常亮表示设备故障（行程开关异常除外，见紫 / 黄快闪），请结合 0x23 05 状态查询定位原因。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紫 / 黄快闪为行程开关异常诊断灯语（优先级最高）：下行程 = 紫快闪、上行程 = 黄快闪、两路同错 = 黄紫交替；应停机检修并联系厂商。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7726680" y="5559552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8138160" y="553212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 · 快闪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10104120" y="553212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行程开关异常（上行程）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7726680" y="587959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7726680" y="5925312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8138160" y="589788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 · 慢闪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10104120" y="589788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回零 / 自检 · 放标提醒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7726680" y="624535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/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 flipH="1" flipV="1">
            <a:off x="8074152" y="4480560"/>
            <a:ext cx="411480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69748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48640" y="29718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F5A52"/>
                </a:solidFill>
                <a:latin typeface="SimSun" pitchFamily="34" charset="0"/>
                <a:ea typeface="SimSun" pitchFamily="2" charset="-122"/>
                <a:cs typeface="SimSun" pitchFamily="34" charset="-120"/>
              </a:rPr>
              <a:t>V1.2 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8862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1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本协议 V1.2 于 2026-09-19 增补定版（V1.1 于 2026-09-12 增补定版，V1.0 于 2026-08-24 初版定版）；后续如有变更，将随版本号同步更新并记录于版本说明。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12827</Words>
  <Application>WPS Presentation</Application>
  <PresentationFormat>On-screen Show (16:9)</PresentationFormat>
  <Paragraphs>2102</Paragraphs>
  <Slides>39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9" baseType="lpstr">
      <vt:lpstr>Arial</vt:lpstr>
      <vt:lpstr>SimSun</vt:lpstr>
      <vt:lpstr>Wingdings</vt:lpstr>
      <vt:lpstr>SimSun</vt:lpstr>
      <vt:lpstr>汉仪书宋二KW</vt:lpstr>
      <vt:lpstr>SimSun</vt:lpstr>
      <vt:lpstr>Microsoft YaHei</vt:lpstr>
      <vt:lpstr>Microsoft YaHei</vt:lpstr>
      <vt:lpstr>Microsoft YaHei</vt:lpstr>
      <vt:lpstr>Microsoft YaHei</vt:lpstr>
      <vt:lpstr>方正雅意黑 GB18030L2</vt:lpstr>
      <vt:lpstr>Courier New</vt:lpstr>
      <vt:lpstr>Courier New</vt:lpstr>
      <vt:lpstr>Courier New</vt:lpstr>
      <vt:lpstr>Calibri</vt:lpstr>
      <vt:lpstr>Helvetica Neue</vt:lpstr>
      <vt:lpstr>Microsoft YaHei</vt:lpstr>
      <vt:lpstr>Arial Unicode MS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ZLR5401 应用层通信协议 V1.0</dc:title>
  <dc:creator>ZLR5401</dc:creator>
  <dc:subject>PptxGenJS Presentation</dc:subject>
  <cp:lastModifiedBy>覆纱</cp:lastModifiedBy>
  <cp:revision>4</cp:revision>
  <dcterms:created xsi:type="dcterms:W3CDTF">2026-09-04T12:44:05Z</dcterms:created>
  <dcterms:modified xsi:type="dcterms:W3CDTF">2026-09-04T12:44:05Z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1033-12.1.28492.28492</vt:lpwstr>
  </property>
  <property fmtid="{D5CDD505-2E9C-101B-9397-08002B2CF9AE}" pid="3" name="ICV">
    <vt:lpwstr>4FB079C565A8DC5BB3B39A6AC0046246_42</vt:lpwstr>
  </property>
</Properties>
</file>