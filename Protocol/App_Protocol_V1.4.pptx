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left.pn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-640080" y="-685800"/>
            <a:ext cx="4937760" cy="3703320"/>
          </a:xfrm>
          <a:prstGeom prst="rect">
            <a:avLst/>
          </a:prstGeom>
        </p:spPr>
      </p:pic>
      <p:pic>
        <p:nvPicPr>
          <p:cNvPr id="3" name="Image 1" descr="assets/wash_left.png">    </p:cNvPr>
          <p:cNvPicPr>
            <a:picLocks noChangeAspect="1"/>
          </p:cNvPicPr>
          <p:nvPr/>
        </p:nvPicPr>
        <p:blipFill>
          <a:blip r:embed="rId2">
            <a:alphaModFix amt="92000"/>
          </a:blip>
          <a:stretch>
            <a:fillRect/>
          </a:stretch>
        </p:blipFill>
        <p:spPr>
          <a:xfrm flipH="1" flipV="1">
            <a:off x="7891272" y="3794760"/>
            <a:ext cx="4937760" cy="37033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538728" y="1234440"/>
            <a:ext cx="5120640" cy="4389120"/>
          </a:xfrm>
          <a:prstGeom prst="hexagon">
            <a:avLst/>
          </a:prstGeom>
          <a:solidFill>
            <a:srgbClr val="FDFCFA">
              <a:alpha val="92000"/>
            </a:srgbClr>
          </a:solidFill>
          <a:ln w="19050">
            <a:solidFill>
              <a:srgbClr val="C8B27E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931920" y="182880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300" kern="0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ZLR5401</a:t>
            </a:r>
            <a:endParaRPr lang="en-US" sz="4400" dirty="0"/>
          </a:p>
        </p:txBody>
      </p:sp>
      <p:sp>
        <p:nvSpPr>
          <p:cNvPr id="6" name="Text 2"/>
          <p:cNvSpPr/>
          <p:nvPr/>
        </p:nvSpPr>
        <p:spPr>
          <a:xfrm>
            <a:off x="3931920" y="265176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3A3A38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应用层通信协议</a:t>
            </a:r>
            <a:endParaRPr lang="en-US" sz="3200" dirty="0"/>
          </a:p>
        </p:txBody>
      </p:sp>
      <p:sp>
        <p:nvSpPr>
          <p:cNvPr id="7" name="Text 3"/>
          <p:cNvSpPr/>
          <p:nvPr/>
        </p:nvSpPr>
        <p:spPr>
          <a:xfrm>
            <a:off x="3931920" y="36576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V1.4</a:t>
            </a:r>
            <a:pPr algn="ctr" indent="0" marL="0">
              <a:buNone/>
            </a:pPr>
            <a:r>
              <a:rPr lang="en-US" sz="1800" dirty="0">
                <a:solidFill>
                  <a:srgbClr val="8A9188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（2026-09-29）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984248" y="6080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帧格式 · 系统层命令 · UHF 控制 · 解锁命令 · 灯控映射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概述 · 通信帧格式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章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设备经 USB（HID）与上位机通信，采用统一的请求—响应帧协议。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设备从哪个通道收到请求，就在哪个通道返回响应；设备亦会主动推送解锁过程事件帧。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除特别说明外，多字节整数低字节在前（小端）；每帧以 CRC-32 校验结尾。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788920"/>
            <a:ext cx="1371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278892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帧头
</a:t>
            </a:r>
            <a:pPr algn="ct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B
</a:t>
            </a:r>
            <a:pPr algn="ctr" indent="0" marL="0">
              <a:buNone/>
            </a:pPr>
            <a:r>
              <a:rPr lang="en-US" sz="10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0x7753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1920240" y="2788920"/>
            <a:ext cx="1234440" cy="960120"/>
          </a:xfrm>
          <a:prstGeom prst="rect">
            <a:avLst/>
          </a:prstGeom>
          <a:solidFill>
            <a:srgbClr val="F5F7F4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920240" y="278892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地址
</a:t>
            </a:r>
            <a:pPr algn="ct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B
</a:t>
            </a:r>
            <a:pPr algn="ctr" indent="0" marL="0">
              <a:buNone/>
            </a:pPr>
            <a:r>
              <a:rPr lang="en-US" sz="10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0xFF 广播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154680" y="2788920"/>
            <a:ext cx="12344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54680" y="278892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预留
</a:t>
            </a:r>
            <a:pPr algn="ct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B
</a:t>
            </a:r>
            <a:pPr algn="ctr" indent="0" marL="0">
              <a:buNone/>
            </a:pPr>
            <a:r>
              <a:rPr lang="en-US" sz="10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0x00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389120" y="2788920"/>
            <a:ext cx="1371600" cy="960120"/>
          </a:xfrm>
          <a:prstGeom prst="rect">
            <a:avLst/>
          </a:prstGeom>
          <a:solidFill>
            <a:srgbClr val="F5F7F4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89120" y="278892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长度
</a:t>
            </a:r>
            <a:pPr algn="ct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B
</a:t>
            </a:r>
            <a:pPr algn="ctr" indent="0" marL="0">
              <a:buNone/>
            </a:pPr>
            <a:r>
              <a:rPr lang="en-US" sz="10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载荷长度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760720" y="2788920"/>
            <a:ext cx="1371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278892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功能码
</a:t>
            </a:r>
            <a:pPr algn="ct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B
</a:t>
            </a:r>
            <a:pPr algn="ctr" indent="0" marL="0">
              <a:buNone/>
            </a:pPr>
            <a:r>
              <a:rPr lang="en-US" sz="10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见命令表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7132320" y="2788920"/>
            <a:ext cx="2834640" cy="960120"/>
          </a:xfrm>
          <a:prstGeom prst="rect">
            <a:avLst/>
          </a:prstGeom>
          <a:solidFill>
            <a:srgbClr val="F5F7F4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0" y="278892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
</a:t>
            </a:r>
            <a:pPr algn="ct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0~1024 B
</a:t>
            </a:r>
            <a:pPr algn="ctr" indent="0" marL="0">
              <a:buNone/>
            </a:pPr>
            <a:r>
              <a:rPr lang="en-US" sz="10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随命令而定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9966960" y="2788920"/>
            <a:ext cx="1371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966960" y="278892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CRC32
</a:t>
            </a:r>
            <a:pPr algn="ct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B
</a:t>
            </a:r>
            <a:pPr algn="ctr" indent="0" marL="0">
              <a:buNone/>
            </a:pPr>
            <a:r>
              <a:rPr lang="en-US" sz="10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校验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48640" y="40233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长度 = 功能码(1) + 数据 + CRC(4) 的总字节数（小端）。请求功能码 = 命令码；响应功能码 = 请求功能码按位取反（FC ^ 0xFF），据此区分请求与响应。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548640" y="45720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通用约定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901184"/>
          <a:ext cx="55778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33832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err（data[1]）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所有子命令响应的第 2 字节；0 = 成功，非 0 见各类错误码表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回显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所有子命令响应回显请求的子命令码（data[0]）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位图 bitmap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解锁类多标签结果位图；bit n = 第 n 张期望标签已确认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19"/>
          <p:cNvSpPr/>
          <p:nvPr/>
        </p:nvSpPr>
        <p:spPr>
          <a:xfrm>
            <a:off x="6400800" y="4572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版本说明</a:t>
            </a:r>
            <a:endParaRPr lang="en-US" sz="13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4526280"/>
          <a:ext cx="523951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371600"/>
                <a:gridCol w="341071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版本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日期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V1.4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2026-09-29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现行固件全量描述：解锁 0x10/0x11 双通道、0x09 statusBits 位图、0x0F 受理帧同步、电机 2000 µ步/s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CRC-32 校验算法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章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58521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1148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参数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取值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算法名称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CRC-32 / MPEG-2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生成多项式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0x04C11DB7（正序 · MSB first）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初值 Init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0xFFFFFFFF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输入反射 RefIn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输出反射 RefOut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结果异或 XorOut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存放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 字节小端（低字节在前）追加帧尾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720840" y="105156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校验范围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自帧头（53 77）起，至数据区末尾止 — 不含 CRC 字段本身；逐字节、按位 MSB first 计算。
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验证例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握手请求 53 77 01 00 05 00 01 → CRC = 26 2F 69 C5，线上字节序 C5 69 2F 26。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48640" y="3520440"/>
            <a:ext cx="11091672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5875">
            <a:solidFill>
              <a:srgbClr val="C8B27E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7724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 参考实现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77240" y="3977640"/>
            <a:ext cx="106344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uint32_t crc32_mpeg2(const uint8_t *p, size_t n)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uint32_t crc = 0xFFFFFFFF;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(n--) {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crc ^= (uint32_t)*p++ &lt;&lt; 24;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(int i = 0; i &lt; 8; i++)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crc = (crc &amp; 0x80000000) ? (crc &lt;&lt; 1) ^ 0x04C11DB7 : crc &lt;&lt; 1;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crc;          /* 低字节在前（小端）追加帧尾 */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USB HID 传输层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章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10916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80567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项目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内容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设备标识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VID 0x5377 · PID 0x5378 · 产品名 SwCcrd · bcdDevice 0x0200 · 自供电 100 mA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接口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接口 0 · HID 类（class 03 / subclass 00 / protocol 00）· 报告描述符 43 字节 · 无报告 ID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端点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EP1 IN（地址 0x81）· 中断传输 · 64 字节 · 轮询 16 ms　｜　EP2 OUT（地址 0x02）· 中断传输 · 64 字节 · 轮询 16 ms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输出报告（上位机→设备）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[0x00] + 帧流（每报告 64 字节，有效载荷 ≤ 63 字节）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输入报告（设备→上位机）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[0x02] + 帧流（每个报告均带此头字节，含续包）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分包规则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帧长 &gt; 63 字节时跨多报告续传，帧流按序拼接；帧与帧首尾相接，按 53 77 同步头与长度域切分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3246120"/>
            <a:ext cx="11091672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5875">
            <a:solidFill>
              <a:srgbClr val="C8B27E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77240" y="3383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完整交互示例 — 握手 0x01（单报告即可承载，剩余字节补零）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777240" y="3703320"/>
            <a:ext cx="10634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OUT: 00 53 77 01 00 05 00 01 C5 69 2F 26                  ← [0x00] + 请求帧（11 B）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: 02 53 77 01 00 21 00 FE 00 03 01 1C D9 37 30 38 33 0B 00 39 35 37 39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9D 43 A2 4D 01 00 00 00 00 00 C2 01 00 25 56 0B 38  ← [0x02] + 响应帧（39 B）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48640" y="525780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时序注意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软复位（0x08）后设备 USB 重新枚举，上位机须重连再握手；② 复位后 UHF 模块约 3–5 s 才就绪，期间盘点命令超时，建议先查链路状态（0x21 07）。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命令总览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 章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554480"/>
                <a:gridCol w="2011680"/>
                <a:gridCol w="633679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功能码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类别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名称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用途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0x01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系统层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握手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确认链路与设备在线，返回协议版本、UID 等信息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0x07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系统层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设备信息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读取设备地址与硬件 / 软件版本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0x08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系统层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软件复位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设备回 OK 后立即复位重启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0x21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UHF 控制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超高频读写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盘点、读写标签、配置、链路状态、自动扫描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0x23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解锁命令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开锁业务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EPC 解锁 0x10 / AM 解锁 0x11、取消 0x04、进度查询 0x09、事件推送 0x0F/0x0B/0x0C/0x0E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本文件仅公开系统层、UHF 与解锁命令；其余功能码（电机、灯、自检、IO、消磁器 0x22 等）为厂商内部接口。消磁器不经上位机直接控制，按默认参数自主运行；0x11 流程内由设备自动协调其工作模式（详见 AM 流程图页）。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left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394192" y="896112"/>
            <a:ext cx="3246120" cy="5074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82880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壹</a:t>
            </a:r>
            <a:endParaRPr lang="en-US" sz="8800" dirty="0"/>
          </a:p>
        </p:txBody>
      </p:sp>
      <p:sp>
        <p:nvSpPr>
          <p:cNvPr id="4" name="Text 1"/>
          <p:cNvSpPr/>
          <p:nvPr/>
        </p:nvSpPr>
        <p:spPr>
          <a:xfrm>
            <a:off x="548640" y="33832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系统层命令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48640" y="42976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握手 · 设备信息 · 软件复位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5029200"/>
            <a:ext cx="2194560" cy="0"/>
          </a:xfrm>
          <a:prstGeom prst="line">
            <a:avLst/>
          </a:prstGeom>
          <a:noFill/>
          <a:ln w="19050">
            <a:solidFill>
              <a:srgbClr val="C8B27E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握手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系统层 · 0x01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0x01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确认通信链路与设备在线。用于上电初始化或断线重连后的设备发现。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（无）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data 为空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result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 = 成功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ProtoVer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协议版本号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Status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设备运行状态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UID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芯片唯一 ID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UidHash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UID 哈希（小端）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Layer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= 应用层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UpgradeCnt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累计升级次数（小端）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BaudRate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当前波特率（小端）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data 为空；设备回 0xFE，含协议版本与 UID，用于确认在线。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892040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084064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56869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result=0 · ProtoVer=3 · Layer=1 · Baud=115200（实测）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设备信息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系统层 · 0x07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0x07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读取设备通信地址与硬件、软件版本字符串，用于版本核对与资产管理。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（无）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data 为空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result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 = 成功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Addr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设备通信地址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hwVersion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16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硬件版本字符串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swVersion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16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软件版本字符串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2020824"/>
          </a:xfrm>
          <a:prstGeom prst="roundRect">
            <a:avLst>
              <a:gd name="adj" fmla="val 2262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3C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data 为空；回帧含设备地址与硬件 / 软件版本字符串。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892040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084064"/>
            <a:ext cx="2980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3C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724144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result=0 · Addr=1 · 硬件 C8T6_V1.0（实测）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软件复位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系统层 · 0x08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0x08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命令设备软复位。设备先回复 OK，随后立即重启；重启后需重新握手。复位期间请勿下发其他命令。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（无）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data 为空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result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 = 成功（回帧后复位）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380744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设备回 result=0 后立即复位重启；重启后需重新握手。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892040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08406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257800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result=0，回帧后设备复位重启（实测）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left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394192" y="896112"/>
            <a:ext cx="3246120" cy="5074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82880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贰</a:t>
            </a:r>
            <a:endParaRPr lang="en-US" sz="8800" dirty="0"/>
          </a:p>
        </p:txBody>
      </p:sp>
      <p:sp>
        <p:nvSpPr>
          <p:cNvPr id="4" name="Text 1"/>
          <p:cNvSpPr/>
          <p:nvPr/>
        </p:nvSpPr>
        <p:spPr>
          <a:xfrm>
            <a:off x="548640" y="33832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UHF 超高频控制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48640" y="42976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功能码 0x21 · 子命令随 data[0] 下发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5029200"/>
            <a:ext cx="2194560" cy="0"/>
          </a:xfrm>
          <a:prstGeom prst="line">
            <a:avLst/>
          </a:prstGeom>
          <a:noFill/>
          <a:ln w="19050">
            <a:solidFill>
              <a:srgbClr val="C8B27E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同步盘点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·03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一次同步盘点：设备内部完成盘点并直接在响应帧内返回全部标签（含 RSSI），无主动上报。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timeout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盘点时限 ms（小端）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660904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990088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错误码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count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标签数（小端）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{rssi, epcLen, epc…}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count ×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每张标签：RSSI(1) + EPC 长度(1) + EPC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CB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盘点时限 1000 ms（E8 03 小端）；响应帧内直接返回全部标签。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892040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084064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56869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· 2 张在位标签，rssi 在前（实测）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读标签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·04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读取标签存储区数据。异步执行：响应只表示已受理，读回数据进入标签缓冲，经 0x0A 拉取。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epcLen + epc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1+n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目标 EPC（当前版本读首张标签，EPC 为预留）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bank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存储区：1 EPC / 2 TID / 3 USER / 0 保留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addr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起始地址（字）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读取字数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3593592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3922776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+ 0 = 已受理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4160520" y="4800600"/>
            <a:ext cx="7479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读回数据（3~16 字节）完成后进入缓冲，以 0x0A 拉取：该项 rssi=0、epcLen=数据长度、epc=数据内容。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548640" y="4096512"/>
            <a:ext cx="3200400" cy="1709928"/>
          </a:xfrm>
          <a:prstGeom prst="roundRect">
            <a:avLst>
              <a:gd name="adj" fmla="val 2674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58368" y="4352544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6A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658368" y="4681728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 USER 区（bank=3）地址 0 起 4 字；回帧仅表受理，数据经 0x0A 拉取。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658368" y="5047488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658368" y="5239512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658368" y="5413248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= 已受理；读回数据经 0x0A 拉取（实测）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写标签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05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·05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向标签存储区写入数据。异步下发：响应只表示命令已受理，写结果建议读回核验。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0x05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epcLen + epc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1+n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目标 EPC（当前版本写首张标签，EPC 为预留）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bank / addr / len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存储区 / 起始地址（字）/ 写入字节数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data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len×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写入数据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3282696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3611880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+ 0 = 已受理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4160520" y="4489704"/>
            <a:ext cx="7479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bank 映射同 0x04：1 EPC / 2 TID / 3 USER / 0 保留。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548640" y="4096512"/>
            <a:ext cx="320040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58368" y="4352544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658368" y="483717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向首张标签 USER 区地址 0 写 4 字节 12 34 56 78（受理即回帧）。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658368" y="5202936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658368" y="5394960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658368" y="5568696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= 命令已受理下发（实测）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停止当前操作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06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·06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中止进行中的盘点 / 读 / 写操作。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0x06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+ 0 = 成功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F7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中止进行中的盘点 / 读 / 写操作。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718304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4910328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F7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084064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已停止（实测）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链路状态查询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07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·07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查询 UHF 模块链路与工作状态，用于周期性健康检查。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0x07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错误码（未上电回 3 NOT READY）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state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模块状态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link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 = 链路正常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totalTags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累计读到标签数（≤255）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536192"/>
          </a:xfrm>
          <a:prstGeom prst="roundRect">
            <a:avLst>
              <a:gd name="adj" fmla="val 2976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F3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查询链路；回帧含链路通断与就绪状态。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718304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49103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239512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· state=1 · link=0 · total=2（实测）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读配置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08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·08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读取 UHF 模块当前工作配置（发射功率、天线、会话参数、频段等）。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0x08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 + 配置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当前配置项（同 0x09 写配置字段）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362456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CB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读取当前配置；回帧字段与 0x09 写配置一一对应。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718304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49103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239512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· 返回当前 7 字节配置（实测）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写配置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09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·09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设置 UHF 模块工作配置并保存。自动扫描进行中时，新配置在下一轮盘点前生效。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powerDbm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发射功率 dBm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antenna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天线号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checksumEn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CRC 校验使能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session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盘点会话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target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目标标志 A/B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q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Q 值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band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频段（按模块支持）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452628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485546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+ 0 = 成功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709928"/>
          </a:xfrm>
          <a:prstGeom prst="roundRect">
            <a:avLst>
              <a:gd name="adj" fmla="val 2674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681728"/>
            <a:ext cx="298094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功率 26 dBm · 天线 1 · 校验开 · Session 1 · 目标 A · Q=4 · 频段 1。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5221224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413248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4A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586984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err=0，配置已接受并保存（实测）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读取标签缓冲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·0A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取走自动扫描缓冲中的标签（含 RSSI）。count = 0 取全部，&gt; 0 取前 count 条。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0x0A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count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 = 全部；&gt; 0 = 前 count 条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660904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990088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 + count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错误码 + 标签数（小端）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{epcLen, rssi, epc…}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count ×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每张：EPC 长度(1) + RSSI(1) + EPC（顺序与 0x03 相反）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8F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count=0：取走自动扫描缓冲内全部标签（含 RSSI）。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892040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084064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56869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· 2 张缓冲标签，epcLen 在前（实测）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天线回波检测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0C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·0C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主动触发一次天线回波检测，验证天线连接是否正常。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0x0C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+ 0 = 检测通过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antennaOk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= 天线正常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antRl / antVswr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2+2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回波损耗 / 驻波比（高字节在前）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536192"/>
          </a:xfrm>
          <a:prstGeom prst="roundRect">
            <a:avLst>
              <a:gd name="adj" fmla="val 2976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D8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触发一次天线回波检测；err=0 表示天线连接正常。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718304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49103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97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239512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· antOk=1 · antRl=90 · VSWR=210（实测）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启动自动扫描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0D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·0D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连续盘点并写入缓冲，不主动上报；上位机周期性以 0x0A 拉取。识别到标签蜂鸣 50 ms 提示。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cycle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扫描周期 ms（小端）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660904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990088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+ 0 = 成功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380744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 1000 ms 周期连续盘点写入缓冲，配合 0x0A 拉取。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892040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08406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0F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257800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扫描已启动（实测）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停止自动扫描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·0E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停止自动扫描并中止当前盘点。缓冲数据仍可用 0x0A 拉取。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+ 0 = 成功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停止自动扫描；缓冲数据仍可用 0x0A 拉取。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718304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4910328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7D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084064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扫描已停止（实测）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UHF 错误码（data[1]）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ERR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所有 0x21 子命令的响应中，data[1] 为错误码；0 表示成功。</a:t>
            </a:r>
            <a:endParaRPr lang="en-US" sz="13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143000"/>
          <a:ext cx="68580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60350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值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含义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成功 OK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参数非法 PARAM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忙 BUSY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未就绪 NOT READY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链路故障 LINK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无标签 NO TAG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超时 TIMEOUT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left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394192" y="896112"/>
            <a:ext cx="3246120" cy="5074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82880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叁</a:t>
            </a:r>
            <a:endParaRPr lang="en-US" sz="8800" dirty="0"/>
          </a:p>
        </p:txBody>
      </p:sp>
      <p:sp>
        <p:nvSpPr>
          <p:cNvPr id="4" name="Text 1"/>
          <p:cNvSpPr/>
          <p:nvPr/>
        </p:nvSpPr>
        <p:spPr>
          <a:xfrm>
            <a:off x="548640" y="33832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解锁命令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48640" y="42976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功能码 0x23 · 含解锁流程图与灯控映射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5029200"/>
            <a:ext cx="2194560" cy="0"/>
          </a:xfrm>
          <a:prstGeom prst="line">
            <a:avLst/>
          </a:prstGeom>
          <a:noFill/>
          <a:ln w="19050">
            <a:solidFill>
              <a:srgbClr val="C8B27E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取消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 · 0x23 04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0x23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·04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取消当前解锁流程（仅服务 0x10 / 0x11）。解锁流程进行中仅允许本命令与 0x09 进度查询；流程空闲时为无操作直回 OK；取消立即回 OK，流程由各自终帧（0x10 / 0x11）以 endReason=6 报告（0x10 升起段取消先安全回降再结账；0x11 无机械段，窗内即回）。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+ 0 = 成功（立即回帧）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267505"/>
            <a:ext cx="3200400" cy="1380744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304081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523537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5E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697273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取消当前解锁流程；立即回 OK，设备安全回降后以终帧 endReason=6 报告。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5063033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255057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428793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err=0（实测，空闲态取消）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进度查询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 · 0x23 09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0x23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·09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解锁流程中拉取实时进度（0x10 / 0x11 统一布局，9 字节）；无流程时全零（status=0x00 无歧义）。status 单字节只陈述可观测事实，上位机查表即读，无需理解流程内部相位。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错误码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status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单字节位图，见下表（0x10 全量；0x11 仅 bit0/bit2）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tag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0x10：当前确认名单张数 · 0x11：已解锁数（逐帧即时）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elapsed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流程已进行秒（0xFF 封顶；窗口全程时长见终帧）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riseCnt / alarmCnt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0x10：升至顶次数 / 报警次数（0x11 恒 0）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lastCycle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0x10 最近电机事件：0 无 / 1 升至顶 / 2 全失回降 / 3 介入回降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rsv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保留，恒 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883664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6F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拉取实时进度：单字节状态位图 + 计数（一问一答，节奏由上位机定，建议 100 ms）。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892040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084064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8B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413248"/>
            <a:ext cx="298094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· status=0x15 在顶保持 · 2 张确认 · 已 12 s · 升顶 1 次 · 上次循环=升至顶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进度查询 · statusBits 位定义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0x23 09 · 状态字节查表即读</a:t>
            </a:r>
            <a:endParaRPr lang="en-US" sz="11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55778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7548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值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含义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bit0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BUSY — 流程进行中（受理至终帧）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bit1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IR — 红外遮挡（实时电平；200 ms 去抖仅作用于升起门，升起后只报不控）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bit2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TAG — 0x10：名单存在已确认有效子集 · 0x11：AM 消磁在线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bit3-4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MOTOR — 电机状态/位置：0 静止·底 / 1 上行 / 2 在顶 / 3 下行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bit5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FGN — 外来标签已判介入（累计读到 2 次即置位）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bit6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ALARM — 异常报警中（红 50/50 闪 + 蜂鸣 50 ms/500 ms）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bit7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UHF — UHF 失联累计中（5 s 未恢复 → 终帧 endReason=4）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325880"/>
          <a:ext cx="52120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3891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值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含义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空闲（可发新命令）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等标签（盘点已开）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0x05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有确认子集，门只差红外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电机上行中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0x15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在顶保持（在场即保持）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0x75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在顶 · 外来介入报警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0x79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介入报警快降中（0x04 免疫不可打断）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0x59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名单全失报警快降中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0x1D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超窗正常回降（无报警）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0x81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UHF 失联累计中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7" name="Text 2"/>
          <p:cNvSpPr/>
          <p:nvPr/>
        </p:nvSpPr>
        <p:spPr>
          <a:xfrm>
            <a:off x="548640" y="61722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位图表达力强于相位枚举：报警快降的三种原因（介入 0x79 / 全失 0x59 / 正常 0x1D）一眼可辨；上位机一份解析代码通吃 0x10 / 0x11 两通道。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EPC 解锁 · 参数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 · 0x23 10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0x23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·10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EPC 解锁：下发超时窗 + 名单 1~10 张变长 EPC；任意非空子集稳定在场 + 红外遮挡 → 升起 → 在场即保持，异常报警快速下行、恢复再升，循环至超窗（详见流程图页）。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777240"/>
                <a:gridCol w="491947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0x10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tmo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流程超时窗秒（u16 小端，&gt;0，上限 600 钳位）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epcCnt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名单张数 1 ~ 10（内部 10 槽缓冲）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epcLen + epc…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+ 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每张：长度 1 ~ 12 + EPC 字节，变长重复 × epcCnt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rsv…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尾随保留字节忽略（不校验）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3593592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3922776"/>
          <a:ext cx="7479792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777240"/>
                <a:gridCol w="491947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错误码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endReason / bitmap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结束原因（见错误码页）/ 最终确认位 bit n = 第 n 张在场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rise / lower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升 / 降实际微步数（各 2 字节小端）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elapsed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自受理至终帧整秒（0xFFFF 封顶）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riseCnt / alarmCnt / fgnSeen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升至顶次数 / 异常报警次数 / 是否出现过外来介入（0/1）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4160520" y="6044184"/>
            <a:ext cx="7479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名单内 EPC 不得重复（违者 err=2）；外来标签 = 不在名单内的 EPC 累计读到 2 次即介入。蜂鸣仅两处 — 异常报警期间每 500ms 鸣 50ms、流程结束 ALL_OK 鸣 1 s，其余静默；CANCEL 随时安全回降 + 全状态复原。解锁态内仅响应 0x04 取消 / 0x09 进度查询（0x23 子命令范围），其余一律 BUSY。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548640" y="3753612"/>
            <a:ext cx="320040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58368" y="37901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 · 2 标签名单（tmo=30 s）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58368" y="4009644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658368" y="4338828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流程窗 30 s · 名单 AA×6 + 55×6。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658368" y="4530852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658368" y="4722876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B4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658368" y="505206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· 在顶结账 · 升 1 次 · 报警 1 次。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48640" y="5536692"/>
            <a:ext cx="32004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58368" y="557326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推送帧 · 0x0B 标签稳定确认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58368" y="5792724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2C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658368" y="6121908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张稳定在场 · 判据耗时 1500 ms。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AM 解锁 · 参数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 · 0x23 11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0x23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·11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AM 解锁（消磁控制）：受理即切消磁模式 → 逐帧即时计数（一条 = 一张，无等待无稳定判定）→ 达标 / 超窗即挂起消磁 → 蜂鸣 1 s + 绿三闪结账，全程不动电机（详见流程图页）。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0x11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amCnt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期望张数 0 ~ 255；0 = 无计数门受理即结账 ALL_OK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tmo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计数窗秒（u16 小端，&gt;0，上限 16000 钳位）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rsv0 / rsv1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保留位（设备不解释，终帧原样回显）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3282696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5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3611880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错误码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endReason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ALL_OK 达标 / 3 TIMEOUT 窗满 / 6 ABORTED 取消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rise / lower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恒 0（全程不动电机）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elapsed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自受理至终帧整秒（u16）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amCnt / deactDone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目标数回显 / 实际解锁数（窗满如实上报部分完成数）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deactFail / rsv0 / rsv1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deactFail：1 = 挂起确认失败（解码器可能仍在消磁），其余恒 0；rsv 原样回显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4160520" y="6044184"/>
            <a:ext cx="7479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达标检查优先于窗满（同拍边界）；逐帧即时入账，无窗末宽限。挂起确认失败的残余消磁风险无法根除（解码器自行恢复行为，客户已知）。CANCEL：立即尽力挂起 + ABORTED（无机械段）。蜂鸣仅达标 / 结束一处 — 1 s；每张消磁成功无蜂鸣，仅绿单闪。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548640" y="3753612"/>
            <a:ext cx="3200400" cy="1517904"/>
          </a:xfrm>
          <a:prstGeom prst="roundRect">
            <a:avLst>
              <a:gd name="adj" fmla="val 3012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58368" y="37901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 · 3 张（tmo=120 s）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58368" y="4009644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D5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658368" y="4338828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期望消磁 3 张 · 计数窗 120 s。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658368" y="4530852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658368" y="4722876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5D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658368" y="5052060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· 3/3 达标 · 挂起成功。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48640" y="5362956"/>
            <a:ext cx="3200400" cy="667512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58368" y="5399532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推送帧 · 0x0E 每解锁一张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58368" y="5618988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4B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658368" y="5792724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done=1 · 一张一帧 · 白单闪。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解锁 · 错误码与结束原因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 · 0x23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ERR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0x10 / 0x11 终帧 err 字段（左）与 err=0 时的结束原因 endReason（右）。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错误码（终帧 data[1]）</a:t>
            </a:r>
            <a:endParaRPr lang="en-US" sz="13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81328"/>
          <a:ext cx="35661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7432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值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含义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成功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忙 BUSY（须先取消）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参数非法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/ 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UHF 启动 / 链路失败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未回零 / 行程开关错误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 / 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电机故障 / 电机超时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AM 链路 / 切模式失败（0x11）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8092440" y="11430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结束原因 endReason（err=0）</a:t>
            </a:r>
            <a:endParaRPr lang="en-US" sz="1300" dirty="0"/>
          </a:p>
        </p:txBody>
      </p:sp>
      <p:graphicFrame>
        <p:nvGraphicFramePr>
          <p:cNvPr id="5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92440" y="1481328"/>
          <a:ext cx="35661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7432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值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含义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ALL_OK：0x10 超窗时在顶（曾升起保持）/ 0x11 计数达标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0x10 超窗未在顶（未升起 / 异常回降后未恢复）/ 0x11 计数窗满未达标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UHF 链路失联（0x10）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被 0x04 取消（0x11 无机械段，窗内即回）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4160520" y="4892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0x11 全程不动电机：受理切消磁失败 3 次重试后按 err=10 结账；挂起失败仅终帧 deactFail=1 如实上报。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EPC 解锁流程图（0x10 下发至完成）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 · 0x23 10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041648" y="868680"/>
            <a:ext cx="2788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767328" y="8686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前置检查（空闲 · 已回零）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36108" y="121615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4041648" y="1325880"/>
            <a:ext cx="2788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67328" y="13258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下发 0x10（tmo · epcCnt · len+EPC×n）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36108" y="167335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041648" y="1783080"/>
            <a:ext cx="2788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67328" y="17830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受理 · 推 0x0F（白慢闪 · status=0x01 · winMs）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36108" y="213055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041648" y="2240280"/>
            <a:ext cx="2788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767328" y="22402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连续盘点 0x22 多标签（蓝慢闪 · 10 槽）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436108" y="258775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4041648" y="2697480"/>
            <a:ext cx="2788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67328" y="26974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名单标签稳定 1.5 s → 推 0x0B（绿单闪 · 无蜂鸣）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36108" y="304495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4361688" y="3072384"/>
            <a:ext cx="2148840" cy="512064"/>
          </a:xfrm>
          <a:prstGeom prst="diamond">
            <a:avLst/>
          </a:prstGeom>
          <a:solidFill>
            <a:srgbClr val="FFFFFF"/>
          </a:solidFill>
          <a:ln w="15875">
            <a:solidFill>
              <a:srgbClr val="C8B27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767328" y="3072384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非空子集稳定 + 红外遮挡 且无介入？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36108" y="3584448"/>
            <a:ext cx="0" cy="-54864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4041648" y="3611880"/>
            <a:ext cx="2788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767328" y="36118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升起至顶（2000 微步/s · 绿常亮 · 盘点不停）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436108" y="395935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4041648" y="4069080"/>
            <a:ext cx="2788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767328" y="40690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在顶保持：在场即保持 · 盘点监守不停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436108" y="441655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4361688" y="4443984"/>
            <a:ext cx="2148840" cy="512064"/>
          </a:xfrm>
          <a:prstGeom prst="diamond">
            <a:avLst/>
          </a:prstGeom>
          <a:solidFill>
            <a:srgbClr val="FFFFFF"/>
          </a:solidFill>
          <a:ln w="15875">
            <a:solidFill>
              <a:srgbClr val="C8B27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767328" y="4443984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外来介入 / 名单全失？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436108" y="4956048"/>
            <a:ext cx="0" cy="-54864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4041648" y="4983480"/>
            <a:ext cx="2788920" cy="347472"/>
          </a:xfrm>
          <a:prstGeom prst="roundRect">
            <a:avLst>
              <a:gd name="adj" fmla="val 13158"/>
            </a:avLst>
          </a:prstGeom>
          <a:solidFill>
            <a:srgbClr val="EDF2EE"/>
          </a:solidFill>
          <a:ln w="19050">
            <a:solidFill>
              <a:srgbClr val="3F5A5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767328" y="49834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超窗回降 KEY_DOWN → 终帧（在顶 ALL_OK）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7150608" y="4700016"/>
            <a:ext cx="1234440" cy="0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35" name="Text 32"/>
          <p:cNvSpPr/>
          <p:nvPr/>
        </p:nvSpPr>
        <p:spPr>
          <a:xfrm>
            <a:off x="7178040" y="44074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8092440" y="4014216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5F7F4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211312" y="4014216"/>
            <a:ext cx="3291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异常报警 + 快速下行
</a:t>
            </a:r>
            <a:pPr indent="0" marL="0">
              <a:buNone/>
            </a:pPr>
            <a:r>
              <a:rPr lang="en-US" sz="10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红灯 50 ms 亮 / 50 ms 灭闪（持续）
</a:t>
            </a:r>
            <a:pPr indent="0" marL="0">
              <a:buNone/>
            </a:pPr>
            <a:r>
              <a:rPr lang="en-US" sz="10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蜂鸣 50 ms · 每 500 ms 一拍（同步）
</a:t>
            </a:r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外来稳定消失（1.5 s）且子集恢复 → 经红外门重新升起，循环至超窗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5527548" y="343814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否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545836" y="4809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否 · 继续保持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3429000" y="2414016"/>
            <a:ext cx="0" cy="914400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429000" y="3328416"/>
            <a:ext cx="612648" cy="0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headEnd type="triangle"/>
          </a:ln>
        </p:spPr>
      </p:sp>
      <p:sp>
        <p:nvSpPr>
          <p:cNvPr id="42" name="Text 39"/>
          <p:cNvSpPr/>
          <p:nvPr/>
        </p:nvSpPr>
        <p:spPr>
          <a:xfrm>
            <a:off x="2212848" y="26883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否 · 继续盘点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548640" y="9144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异常出口</a:t>
            </a:r>
            <a:endParaRPr lang="en-US" sz="1250" dirty="0"/>
          </a:p>
        </p:txBody>
      </p:sp>
      <p:sp>
        <p:nvSpPr>
          <p:cNvPr id="44" name="Shape 41"/>
          <p:cNvSpPr/>
          <p:nvPr/>
        </p:nvSpPr>
        <p:spPr>
          <a:xfrm>
            <a:off x="548640" y="731520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40080" y="73152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前置失败（忙 / 未回零）
</a:t>
            </a:r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 = 1 / err = 7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3154680" y="1042416"/>
            <a:ext cx="886968" cy="0"/>
          </a:xfrm>
          <a:prstGeom prst="line">
            <a:avLst/>
          </a:prstGeom>
          <a:noFill/>
          <a:ln w="12700">
            <a:solidFill>
              <a:srgbClr val="C8B27E"/>
            </a:solidFill>
            <a:prstDash val="dash"/>
            <a:tailEnd type="triangle"/>
          </a:ln>
        </p:spPr>
      </p:sp>
      <p:sp>
        <p:nvSpPr>
          <p:cNvPr id="47" name="Shape 44"/>
          <p:cNvSpPr/>
          <p:nvPr/>
        </p:nvSpPr>
        <p:spPr>
          <a:xfrm>
            <a:off x="548640" y="1188720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40080" y="118872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帧非法（tmo=0 / 张数 / 重复 EPC）
</a:t>
            </a:r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 = 2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3154680" y="1499616"/>
            <a:ext cx="886968" cy="0"/>
          </a:xfrm>
          <a:prstGeom prst="line">
            <a:avLst/>
          </a:prstGeom>
          <a:noFill/>
          <a:ln w="12700">
            <a:solidFill>
              <a:srgbClr val="C8B27E"/>
            </a:solidFill>
            <a:prstDash val="dash"/>
            <a:tailEnd type="triangle"/>
          </a:ln>
        </p:spPr>
      </p:sp>
      <p:sp>
        <p:nvSpPr>
          <p:cNvPr id="50" name="Shape 47"/>
          <p:cNvSpPr/>
          <p:nvPr/>
        </p:nvSpPr>
        <p:spPr>
          <a:xfrm>
            <a:off x="548640" y="3017520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40080" y="301752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超窗未在顶（未升 / 未恢复）
</a:t>
            </a:r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endReason = 3 · 黄慢闪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3154680" y="3328416"/>
            <a:ext cx="886968" cy="0"/>
          </a:xfrm>
          <a:prstGeom prst="line">
            <a:avLst/>
          </a:prstGeom>
          <a:noFill/>
          <a:ln w="12700">
            <a:solidFill>
              <a:srgbClr val="C8B27E"/>
            </a:solidFill>
            <a:prstDash val="dash"/>
            <a:tailEnd type="triangle"/>
          </a:ln>
        </p:spPr>
      </p:sp>
      <p:sp>
        <p:nvSpPr>
          <p:cNvPr id="53" name="Shape 50"/>
          <p:cNvSpPr/>
          <p:nvPr/>
        </p:nvSpPr>
        <p:spPr>
          <a:xfrm>
            <a:off x="548640" y="3474720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40080" y="347472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失联 5 s
</a:t>
            </a:r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endReason = 4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3154680" y="3785616"/>
            <a:ext cx="886968" cy="0"/>
          </a:xfrm>
          <a:prstGeom prst="line">
            <a:avLst/>
          </a:prstGeom>
          <a:noFill/>
          <a:ln w="12700">
            <a:solidFill>
              <a:srgbClr val="C8B27E"/>
            </a:solidFill>
            <a:prstDash val="dash"/>
            <a:tailEnd type="triangle"/>
          </a:ln>
        </p:spPr>
      </p:sp>
      <p:sp>
        <p:nvSpPr>
          <p:cNvPr id="56" name="Shape 53"/>
          <p:cNvSpPr/>
          <p:nvPr/>
        </p:nvSpPr>
        <p:spPr>
          <a:xfrm>
            <a:off x="548640" y="4846320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40080" y="484632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任意阶段 0x04 取消
</a:t>
            </a:r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安全回降 · endReason = 6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3154680" y="5157216"/>
            <a:ext cx="886968" cy="0"/>
          </a:xfrm>
          <a:prstGeom prst="line">
            <a:avLst/>
          </a:prstGeom>
          <a:noFill/>
          <a:ln w="12700">
            <a:solidFill>
              <a:srgbClr val="C8B27E"/>
            </a:solidFill>
            <a:prstDash val="dash"/>
            <a:tailEnd type="triangle"/>
          </a:ln>
        </p:spPr>
      </p:sp>
      <p:sp>
        <p:nvSpPr>
          <p:cNvPr id="59" name="Text 56"/>
          <p:cNvSpPr/>
          <p:nvPr/>
        </p:nvSpPr>
        <p:spPr>
          <a:xfrm>
            <a:off x="8092440" y="5513832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阶段失败码：err=3/4 UHF 启动或链路 · err=8/9 电机（自动回退安全位；升起途中异常即时停、就地快降，不抵顶）。外来介入帧 0x0C 逐张推送。解锁态内仅受理 0x04 取消 / 0x09 查询，其余命令一律 BUSY。</a:t>
            </a:r>
            <a:endParaRPr lang="en-US" sz="950" dirty="0"/>
          </a:p>
        </p:txBody>
      </p:sp>
      <p:sp>
        <p:nvSpPr>
          <p:cNvPr id="60" name="Text 57"/>
          <p:cNvSpPr/>
          <p:nvPr/>
        </p:nvSpPr>
        <p:spPr>
          <a:xfrm>
            <a:off x="548640" y="6327648"/>
            <a:ext cx="7452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判据：稳定在场 = 首读起 1.5 s 内无 1.5 s 级断读；外来介入 = 非名单 EPC 累计读到 2 次即推 0x0C（绿单闪不鸣，转报警处理）；1.5 s 未再读即视为消失。任意非空子集在场均有效。受理帧 winMs = tmo×1000（ms）。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AM 解锁流程图（0x11 下发至完成）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 · 0x23 11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041648" y="868680"/>
            <a:ext cx="30632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721608" y="86868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下发 0x11（amCnt · tmo · rsv）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573268" y="121615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4041648" y="1325880"/>
            <a:ext cx="30632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21608" y="132588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前置检查：业务空闲（不动电机 · 不碰 UHF）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573268" y="167335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453128" y="1700784"/>
            <a:ext cx="2240280" cy="512064"/>
          </a:xfrm>
          <a:prstGeom prst="diamond">
            <a:avLst/>
          </a:prstGeom>
          <a:solidFill>
            <a:srgbClr val="FFFFFF"/>
          </a:solidFill>
          <a:ln w="15875">
            <a:solidFill>
              <a:srgbClr val="C8B27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21608" y="1700784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amCnt = 0？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573268" y="2212848"/>
            <a:ext cx="0" cy="-54864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041648" y="2240280"/>
            <a:ext cx="30632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721608" y="224028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受理 · 推 0x0F（status=0x05 消磁在线 · winMs=tmo×1000）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573268" y="258775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4041648" y="2697480"/>
            <a:ext cx="3063240" cy="347472"/>
          </a:xfrm>
          <a:prstGeom prst="roundRect">
            <a:avLst>
              <a:gd name="adj" fmla="val 13158"/>
            </a:avLst>
          </a:prstGeom>
          <a:solidFill>
            <a:srgbClr val="F5F7F4"/>
          </a:solidFill>
          <a:ln w="19050">
            <a:solidFill>
              <a:srgbClr val="C8B27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21608" y="269748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开启消磁：AM 切消磁模式（回显确认 · 重试 3 次）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573268" y="304495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4453128" y="3072384"/>
            <a:ext cx="2240280" cy="512064"/>
          </a:xfrm>
          <a:prstGeom prst="diamond">
            <a:avLst/>
          </a:prstGeom>
          <a:solidFill>
            <a:srgbClr val="FFFFFF"/>
          </a:solidFill>
          <a:ln w="15875">
            <a:solidFill>
              <a:srgbClr val="C8B27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721608" y="3072384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确认成功？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573268" y="3584448"/>
            <a:ext cx="0" cy="-54864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4041648" y="3611880"/>
            <a:ext cx="30632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721608" y="361188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计数窗 tmo 秒：逐帧即时入账（一条 = 一张）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573268" y="395935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4041648" y="4069080"/>
            <a:ext cx="30632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721608" y="406908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每解锁一张 · 推 0x0E（白单闪 · 无蜂鸣）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573268" y="441655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4453128" y="4443984"/>
            <a:ext cx="2240280" cy="512064"/>
          </a:xfrm>
          <a:prstGeom prst="diamond">
            <a:avLst/>
          </a:prstGeom>
          <a:solidFill>
            <a:srgbClr val="FFFFFF"/>
          </a:solidFill>
          <a:ln w="15875">
            <a:solidFill>
              <a:srgbClr val="C8B27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721608" y="4443984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已解锁数 ≥ amCnt？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573268" y="4956048"/>
            <a:ext cx="0" cy="-54864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4041648" y="4983480"/>
            <a:ext cx="3063240" cy="347472"/>
          </a:xfrm>
          <a:prstGeom prst="roundRect">
            <a:avLst>
              <a:gd name="adj" fmla="val 13158"/>
            </a:avLst>
          </a:prstGeom>
          <a:solidFill>
            <a:srgbClr val="F5F7F4"/>
          </a:solidFill>
          <a:ln w="19050">
            <a:solidFill>
              <a:srgbClr val="C8B27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721608" y="498348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关闭消磁：AM 挂起切仅检测（失败 deactFail=1 上报）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573268" y="533095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4041648" y="5440680"/>
            <a:ext cx="3063240" cy="347472"/>
          </a:xfrm>
          <a:prstGeom prst="roundRect">
            <a:avLst>
              <a:gd name="adj" fmla="val 13158"/>
            </a:avLst>
          </a:prstGeom>
          <a:solidFill>
            <a:srgbClr val="EDF2EE"/>
          </a:solidFill>
          <a:ln w="19050">
            <a:solidFill>
              <a:srgbClr val="3F5A5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721608" y="544068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蜂鸣 1 s + 绿三闪 · 终帧 ALL_OK（rise/lower 恒 0）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664708" y="480974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978408" y="45720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否 · 继续等（回计数窗）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3813048" y="4700016"/>
            <a:ext cx="0" cy="-914400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3813048" y="3785616"/>
            <a:ext cx="228600" cy="0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41" name="Text 38"/>
          <p:cNvSpPr/>
          <p:nvPr/>
        </p:nvSpPr>
        <p:spPr>
          <a:xfrm>
            <a:off x="5664708" y="206654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否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7379208" y="1956816"/>
            <a:ext cx="822960" cy="0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7818120" y="1609344"/>
            <a:ext cx="3794760" cy="694944"/>
          </a:xfrm>
          <a:prstGeom prst="roundRect">
            <a:avLst>
              <a:gd name="adj" fmla="val 6579"/>
            </a:avLst>
          </a:prstGeom>
          <a:solidFill>
            <a:srgbClr val="EDF2EE"/>
          </a:solidFill>
          <a:ln w="19050">
            <a:solidFill>
              <a:srgbClr val="3F5A5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909560" y="1609344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amCnt = 0 支路（右出）
</a:t>
            </a:r>
            <a:pPr indent="0" marL="0">
              <a:buNone/>
            </a:pPr>
            <a:r>
              <a:rPr lang="en-US" sz="9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不耗窗不碰 AM，受理即达标 → 直接关闭消磁（无操作）→ 蜂鸣 1s + 终帧 ALL_OK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7196328" y="1956816"/>
            <a:ext cx="182880" cy="0"/>
          </a:xfrm>
          <a:prstGeom prst="line">
            <a:avLst/>
          </a:prstGeom>
          <a:noFill/>
          <a:ln w="19050">
            <a:solidFill>
              <a:srgbClr val="3F5A52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48640" y="9601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异常出口</a:t>
            </a:r>
            <a:endParaRPr lang="en-US" sz="1250" dirty="0"/>
          </a:p>
        </p:txBody>
      </p:sp>
      <p:sp>
        <p:nvSpPr>
          <p:cNvPr id="47" name="Shape 44"/>
          <p:cNvSpPr/>
          <p:nvPr/>
        </p:nvSpPr>
        <p:spPr>
          <a:xfrm>
            <a:off x="548640" y="1243584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40080" y="1243584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帧长 / tmo=0 非法
</a:t>
            </a:r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 = 2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548640" y="2340864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40080" y="2340864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切消磁模式失败（3 次重试）
</a:t>
            </a:r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 = 10 · 红双闪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548640" y="3986784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40080" y="3986784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计数窗满未达标
</a:t>
            </a:r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endReason = 3 · 黄慢闪 2 s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548640" y="5449824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40080" y="5449824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窗内 0x04 取消
</a:t>
            </a:r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endReason = 6（尽力挂起 · 无机械段）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8092440" y="3520440"/>
            <a:ext cx="3520440" cy="1691640"/>
          </a:xfrm>
          <a:prstGeom prst="roundRect">
            <a:avLst>
              <a:gd name="adj" fmla="val 3243"/>
            </a:avLst>
          </a:prstGeom>
          <a:solidFill>
            <a:srgbClr val="F5F7F4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8211312" y="3630168"/>
            <a:ext cx="3291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AM 消磁模式 · 开关时机
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开启：受理后、计数窗开启前（回显确认 + 3 次重试，全败按 err=10 结账，不进窗）
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关闭：达标 / 超窗 / 取消 三种出口统一挂起（切仅检测；确认失败不阻塞结账，终帧 deactFail=1 如实上报）</a:t>
            </a:r>
            <a:endParaRPr lang="en-US" sz="1250" dirty="0"/>
          </a:p>
        </p:txBody>
      </p:sp>
      <p:sp>
        <p:nvSpPr>
          <p:cNvPr id="57" name="Shape 54"/>
          <p:cNvSpPr/>
          <p:nvPr/>
        </p:nvSpPr>
        <p:spPr>
          <a:xfrm>
            <a:off x="8092440" y="5394960"/>
            <a:ext cx="3520440" cy="1051560"/>
          </a:xfrm>
          <a:prstGeom prst="roundRect">
            <a:avLst>
              <a:gd name="adj" fmla="val 5217"/>
            </a:avLst>
          </a:prstGeom>
          <a:solidFill>
            <a:srgbClr val="F5F7F4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8211312" y="54864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全程不动电机
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rise / lower 恒 0 · 无升起 / 保持 / 回降</a:t>
            </a:r>
            <a:endParaRPr lang="en-US" sz="1250" dirty="0"/>
          </a:p>
        </p:txBody>
      </p:sp>
      <p:sp>
        <p:nvSpPr>
          <p:cNvPr id="59" name="Text 56"/>
          <p:cNvSpPr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每张消磁成功由 0x0E 推送帧实时上报（done 累计计数）；整体进度经 0x09 进度查询拉取（status=0x05 消磁在线 · tag=已解锁数）。达标检查优先于窗满（同拍边界）。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灯控映射表（RGB 灯语）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 · 灯语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726680" y="795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颜色 / 节奏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104120" y="795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含义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726680" y="1152144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38160" y="114300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白 · 慢闪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0104120" y="11430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0x10 等待名单标签 + 红外遮挡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26680" y="1463040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26680" y="1499616"/>
            <a:ext cx="274320" cy="274320"/>
          </a:xfrm>
          <a:prstGeom prst="ellipse">
            <a:avLst/>
          </a:prstGeom>
          <a:solidFill>
            <a:srgbClr val="4D7CC7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38160" y="14904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蓝 · 慢闪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0104120" y="14904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0x10 连续盘点进行中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726680" y="1810512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26680" y="1847088"/>
            <a:ext cx="274320" cy="274320"/>
          </a:xfrm>
          <a:prstGeom prst="ellipse">
            <a:avLst/>
          </a:prstGeom>
          <a:solidFill>
            <a:srgbClr val="3FA34D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38160" y="183794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绿 · 单闪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0104120" y="18379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0x10 名单标签稳定确认（无蜂鸣）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726680" y="2157984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726680" y="2194560"/>
            <a:ext cx="274320" cy="274320"/>
          </a:xfrm>
          <a:prstGeom prst="ellipse">
            <a:avLst/>
          </a:prstGeom>
          <a:solidFill>
            <a:srgbClr val="E04545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38160" y="218541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 · 快闪（50/50）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10104120" y="21854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0x10 异常报警：外来介入 / 名单全失（持续至解除）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726680" y="2505456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726680" y="2542032"/>
            <a:ext cx="274320" cy="274320"/>
          </a:xfrm>
          <a:prstGeom prst="ellipse">
            <a:avLst/>
          </a:prstGeom>
          <a:solidFill>
            <a:srgbClr val="3FA34D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38160" y="253288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绿 · 常亮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10104120" y="25328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0x10 已开锁（升起 / 在顶保持）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726680" y="2852928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726680" y="2889504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138160" y="288036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白 · 常亮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10104120" y="2880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0x11 AM 计数窗（消磁运行中）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726680" y="3200400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726680" y="3236976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138160" y="322783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白 · 单闪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10104120" y="32278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0x11 一张消磁成功（无蜂鸣）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726680" y="3547872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726680" y="3584448"/>
            <a:ext cx="274320" cy="274320"/>
          </a:xfrm>
          <a:prstGeom prst="ellipse">
            <a:avLst/>
          </a:prstGeom>
          <a:solidFill>
            <a:srgbClr val="E8C33C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138160" y="357530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黄 · 慢闪 2 s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10104120" y="35753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超窗未达成（0x10 未在顶 / 0x11 窗满）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7726680" y="3895344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726680" y="3931920"/>
            <a:ext cx="274320" cy="274320"/>
          </a:xfrm>
          <a:prstGeom prst="ellipse">
            <a:avLst/>
          </a:prstGeom>
          <a:solidFill>
            <a:srgbClr val="3FA34D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138160" y="392277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绿 · 三连闪</a:t>
            </a:r>
            <a:endParaRPr lang="en-US" sz="1150" dirty="0"/>
          </a:p>
        </p:txBody>
      </p:sp>
      <p:sp>
        <p:nvSpPr>
          <p:cNvPr id="41" name="Text 38"/>
          <p:cNvSpPr/>
          <p:nvPr/>
        </p:nvSpPr>
        <p:spPr>
          <a:xfrm>
            <a:off x="10104120" y="39227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解锁流程完成（ALL_OK 鸣 1 s）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7726680" y="4242816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726680" y="4279392"/>
            <a:ext cx="274320" cy="274320"/>
          </a:xfrm>
          <a:prstGeom prst="ellipse">
            <a:avLst/>
          </a:prstGeom>
          <a:solidFill>
            <a:srgbClr val="E04545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138160" y="427024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 · 双闪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2702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链路失败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7726680" y="4590288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726680" y="4626864"/>
            <a:ext cx="274320" cy="274320"/>
          </a:xfrm>
          <a:prstGeom prst="ellipse">
            <a:avLst/>
          </a:prstGeom>
          <a:solidFill>
            <a:srgbClr val="E8C33C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138160" y="46177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黄 · 快闪</a:t>
            </a:r>
            <a:endParaRPr lang="en-US" sz="1150" dirty="0"/>
          </a:p>
        </p:txBody>
      </p:sp>
      <p:sp>
        <p:nvSpPr>
          <p:cNvPr id="49" name="Text 46"/>
          <p:cNvSpPr/>
          <p:nvPr/>
        </p:nvSpPr>
        <p:spPr>
          <a:xfrm>
            <a:off x="10104120" y="46177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行程开关异常（上行程）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7726680" y="4937760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726680" y="4974336"/>
            <a:ext cx="274320" cy="274320"/>
          </a:xfrm>
          <a:prstGeom prst="ellipse">
            <a:avLst/>
          </a:prstGeom>
          <a:solidFill>
            <a:srgbClr val="C355B5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138160" y="496519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紫 · 快闪</a:t>
            </a:r>
            <a:endParaRPr lang="en-US" sz="1150" dirty="0"/>
          </a:p>
        </p:txBody>
      </p:sp>
      <p:sp>
        <p:nvSpPr>
          <p:cNvPr id="53" name="Text 50"/>
          <p:cNvSpPr/>
          <p:nvPr/>
        </p:nvSpPr>
        <p:spPr>
          <a:xfrm>
            <a:off x="10104120" y="49651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行程开关异常（下行程）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7726680" y="5285232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726680" y="5321808"/>
            <a:ext cx="274320" cy="274320"/>
          </a:xfrm>
          <a:prstGeom prst="ellipse">
            <a:avLst/>
          </a:prstGeom>
          <a:solidFill>
            <a:srgbClr val="E8C33C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8138160" y="531266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黄 · 慢闪</a:t>
            </a:r>
            <a:endParaRPr lang="en-US" sz="1150" dirty="0"/>
          </a:p>
        </p:txBody>
      </p:sp>
      <p:sp>
        <p:nvSpPr>
          <p:cNvPr id="57" name="Text 54"/>
          <p:cNvSpPr/>
          <p:nvPr/>
        </p:nvSpPr>
        <p:spPr>
          <a:xfrm>
            <a:off x="10104120" y="5312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回零 / 自检进行中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7726680" y="5632704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548640" y="1143000"/>
            <a:ext cx="6720840" cy="4846320"/>
          </a:xfrm>
          <a:prstGeom prst="roundRect">
            <a:avLst>
              <a:gd name="adj" fmla="val 1509"/>
            </a:avLst>
          </a:prstGeom>
          <a:solidFill>
            <a:srgbClr val="FFFFFF">
              <a:alpha val="75000"/>
            </a:srgbClr>
          </a:solidFill>
          <a:ln w="15875">
            <a:solidFill>
              <a:srgbClr val="C8B27E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68680" y="14173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灯语说明</a:t>
            </a:r>
            <a:endParaRPr lang="en-US" sz="1600" dirty="0"/>
          </a:p>
        </p:txBody>
      </p:sp>
      <p:sp>
        <p:nvSpPr>
          <p:cNvPr id="61" name="Text 58"/>
          <p:cNvSpPr/>
          <p:nvPr/>
        </p:nvSpPr>
        <p:spPr>
          <a:xfrm>
            <a:off x="868680" y="1965960"/>
            <a:ext cx="63093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30000"/>
              </a:lnSpc>
              <a:spcAft>
                <a:spcPts val="1400"/>
              </a:spcAft>
              <a:buSzPct val="100000"/>
              <a:buChar char="–"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灯语与流程阶段一一对应，操作人员凭灯光颜色与节奏即可判断当前进度；单闪类（绿 / 白）为瞬时提示，闪毕回落当前阶段稳态灯语。</a:t>
            </a:r>
            <a:endParaRPr lang="en-US" sz="1350" dirty="0"/>
          </a:p>
          <a:p>
            <a:pPr marL="152400" indent="-152400">
              <a:lnSpc>
                <a:spcPct val="130000"/>
              </a:lnSpc>
              <a:spcAft>
                <a:spcPts val="1400"/>
              </a:spcAft>
              <a:buSzPct val="100000"/>
              <a:buChar char="–"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蜂鸣三处：0x10 异常报警期间红灯 50/50 闪同步每 500 ms 鸣 50 ms（持续至异常解除）、流程结束 ALL_OK 鸣 1 s（伴随绿三连闪）、0x11 达标鸣 1 s；标签确认与每张消磁成功均无蜂鸣，超时 / 取消无鸣。</a:t>
            </a:r>
            <a:endParaRPr lang="en-US" sz="1350" dirty="0"/>
          </a:p>
          <a:p>
            <a:pPr marL="152400" indent="-152400">
              <a:lnSpc>
                <a:spcPct val="130000"/>
              </a:lnSpc>
              <a:spcAft>
                <a:spcPts val="1400"/>
              </a:spcAft>
              <a:buSzPct val="100000"/>
              <a:buChar char="–"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上位机可以 0x24 手动设置灯色（设备空闲时），10 s 后自动回收，业务灯语优先。</a:t>
            </a:r>
            <a:endParaRPr lang="en-US" sz="1350" dirty="0"/>
          </a:p>
          <a:p>
            <a:pPr marL="152400" indent="-152400">
              <a:lnSpc>
                <a:spcPct val="130000"/>
              </a:lnSpc>
              <a:spcAft>
                <a:spcPts val="1400"/>
              </a:spcAft>
              <a:buSzPct val="100000"/>
              <a:buChar char="–"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紫 / 黄快闪为行程开关异常诊断灯语（优先级最高）：上行程异常 = 黄快闪、下行程异常 = 紫快闪、两路同错亦显黄快闪；应停机检修并联系厂商。</a:t>
            </a:r>
            <a:endParaRPr lang="en-US" sz="1350" dirty="0"/>
          </a:p>
          <a:p>
            <a:pPr marL="152400" indent="-152400">
              <a:lnSpc>
                <a:spcPct val="130000"/>
              </a:lnSpc>
              <a:spcAft>
                <a:spcPts val="1400"/>
              </a:spcAft>
              <a:buSzPct val="100000"/>
              <a:buChar char="–"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红灯常亮表示设备故障（行程开关异常除外，见紫 / 黄快闪），请结合 0x25 自检 / 0x26 IO 诊断定位原因。</a:t>
            </a:r>
            <a:endParaRPr lang="en-US" sz="13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 flipH="1" flipV="1">
            <a:off x="8074152" y="4480560"/>
            <a:ext cx="4114800" cy="23774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2697480"/>
            <a:ext cx="2194560" cy="0"/>
          </a:xfrm>
          <a:prstGeom prst="line">
            <a:avLst/>
          </a:prstGeom>
          <a:noFill/>
          <a:ln w="19050">
            <a:solidFill>
              <a:srgbClr val="C8B27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2971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V1.4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48640" y="3886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V1.4 (2026-09-29)：本文档描述现行固件实际落地形态 — 解锁业务为 0x10 EPC / 0x11 AM 双通道，辅以 0x04 取消与 0x09 进度查询（statusBits 单字节位图，轮询建议 100 ms 拉模式）；事件经推送帧 0x0F / 0x0B / 0x0C / 0x0E 主动上报；电机全腿 2000 µ步/s；防踩踏三锁（单腿串行 / 回降免疫 / 门禁）。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ZLR5401 应用层通信协议 V1.4</dc:title>
  <dc:subject>PptxGenJS Presentation</dc:subject>
  <dc:creator>ZLR5401</dc:creator>
  <cp:lastModifiedBy>ZLR5401</cp:lastModifiedBy>
  <cp:revision>1</cp:revision>
  <dcterms:created xsi:type="dcterms:W3CDTF">2026-09-29T15:14:27Z</dcterms:created>
  <dcterms:modified xsi:type="dcterms:W3CDTF">2026-09-29T15:14:27Z</dcterms:modified>
</cp:coreProperties>
</file>