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left.png">    </p:cNvPr>
          <p:cNvPicPr>
            <a:picLocks noChangeAspect="1"/>
          </p:cNvPicPr>
          <p:nvPr/>
        </p:nvPicPr>
        <p:blipFill>
          <a:blip r:embed="rId1">
            <a:alphaModFix amt="92000"/>
          </a:blip>
          <a:stretch>
            <a:fillRect/>
          </a:stretch>
        </p:blipFill>
        <p:spPr>
          <a:xfrm>
            <a:off x="-640080" y="-685800"/>
            <a:ext cx="4937760" cy="3703320"/>
          </a:xfrm>
          <a:prstGeom prst="rect">
            <a:avLst/>
          </a:prstGeom>
        </p:spPr>
      </p:pic>
      <p:pic>
        <p:nvPicPr>
          <p:cNvPr id="3" name="Image 1" descr="assets/wash_left.png">    </p:cNvPr>
          <p:cNvPicPr>
            <a:picLocks noChangeAspect="1"/>
          </p:cNvPicPr>
          <p:nvPr/>
        </p:nvPicPr>
        <p:blipFill>
          <a:blip r:embed="rId2">
            <a:alphaModFix amt="92000"/>
          </a:blip>
          <a:stretch>
            <a:fillRect/>
          </a:stretch>
        </p:blipFill>
        <p:spPr>
          <a:xfrm flipH="1" flipV="1">
            <a:off x="7891272" y="3794760"/>
            <a:ext cx="4937760" cy="37033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538728" y="1234440"/>
            <a:ext cx="5120640" cy="4389120"/>
          </a:xfrm>
          <a:prstGeom prst="hexagon">
            <a:avLst/>
          </a:prstGeom>
          <a:solidFill>
            <a:srgbClr val="FDFCFA">
              <a:alpha val="92000"/>
            </a:srgbClr>
          </a:solidFill>
          <a:ln w="19050">
            <a:solidFill>
              <a:srgbClr val="C8B27E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3931920" y="182880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300" kern="0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ZLR5401</a:t>
            </a:r>
            <a:endParaRPr lang="en-US" sz="4400" dirty="0"/>
          </a:p>
        </p:txBody>
      </p:sp>
      <p:sp>
        <p:nvSpPr>
          <p:cNvPr id="6" name="Text 2"/>
          <p:cNvSpPr/>
          <p:nvPr/>
        </p:nvSpPr>
        <p:spPr>
          <a:xfrm>
            <a:off x="3931920" y="265176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3A3A38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应用层通信协议</a:t>
            </a:r>
            <a:endParaRPr lang="en-US" sz="3200" dirty="0"/>
          </a:p>
        </p:txBody>
      </p:sp>
      <p:sp>
        <p:nvSpPr>
          <p:cNvPr id="7" name="Text 3"/>
          <p:cNvSpPr/>
          <p:nvPr/>
        </p:nvSpPr>
        <p:spPr>
          <a:xfrm>
            <a:off x="3931920" y="365760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V1.3</a:t>
            </a:r>
            <a:pPr algn="ctr" indent="0" marL="0">
              <a:buNone/>
            </a:pPr>
            <a:r>
              <a:rPr lang="en-US" sz="1800" dirty="0">
                <a:solidFill>
                  <a:srgbClr val="8A9188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（2026-09-20）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2441448" y="6172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帧格式 · 系统层命令 · UHF 控制 · 解锁命令 · 灯控映射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概述 · 通信帧格式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 章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960120"/>
            <a:ext cx="110916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–"/>
            </a:pPr>
            <a:r>
              <a:rPr lang="en-US" sz="15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设备经 UART / USB / 以太网与上位机通信，采用统一的请求—响应帧协议。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–"/>
            </a:pPr>
            <a:r>
              <a:rPr lang="en-US" sz="15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设备从哪个通道收到请求，就在哪个通道返回响应；设备亦会主动推送解锁过程事件帧。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–"/>
            </a:pPr>
            <a:r>
              <a:rPr lang="en-US" sz="15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除特别说明外，多字节整数低字节在前（小端）；每帧以 CRC-32 校验结尾。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788920"/>
            <a:ext cx="1371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278892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帧头
</a:t>
            </a:r>
            <a:pPr algn="ct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B
</a:t>
            </a:r>
            <a:pPr algn="ctr" indent="0" marL="0">
              <a:buNone/>
            </a:pPr>
            <a:r>
              <a:rPr lang="en-US" sz="10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0x7753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1920240" y="2788920"/>
            <a:ext cx="1234440" cy="960120"/>
          </a:xfrm>
          <a:prstGeom prst="rect">
            <a:avLst/>
          </a:prstGeom>
          <a:solidFill>
            <a:srgbClr val="F5F7F4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920240" y="2788920"/>
            <a:ext cx="1234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地址
</a:t>
            </a:r>
            <a:pPr algn="ct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B
</a:t>
            </a:r>
            <a:pPr algn="ctr" indent="0" marL="0">
              <a:buNone/>
            </a:pPr>
            <a:r>
              <a:rPr lang="en-US" sz="10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0xFF 广播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3154680" y="2788920"/>
            <a:ext cx="12344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154680" y="2788920"/>
            <a:ext cx="1234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预留
</a:t>
            </a:r>
            <a:pPr algn="ct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B
</a:t>
            </a:r>
            <a:pPr algn="ctr" indent="0" marL="0">
              <a:buNone/>
            </a:pPr>
            <a:r>
              <a:rPr lang="en-US" sz="10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0x00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389120" y="2788920"/>
            <a:ext cx="1371600" cy="960120"/>
          </a:xfrm>
          <a:prstGeom prst="rect">
            <a:avLst/>
          </a:prstGeom>
          <a:solidFill>
            <a:srgbClr val="F5F7F4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89120" y="278892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长度
</a:t>
            </a:r>
            <a:pPr algn="ct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B
</a:t>
            </a:r>
            <a:pPr algn="ctr" indent="0" marL="0">
              <a:buNone/>
            </a:pPr>
            <a:r>
              <a:rPr lang="en-US" sz="10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载荷长度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760720" y="2788920"/>
            <a:ext cx="1371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60720" y="278892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功能码
</a:t>
            </a:r>
            <a:pPr algn="ct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B
</a:t>
            </a:r>
            <a:pPr algn="ctr" indent="0" marL="0">
              <a:buNone/>
            </a:pPr>
            <a:r>
              <a:rPr lang="en-US" sz="10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见命令表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7132320" y="2788920"/>
            <a:ext cx="2834640" cy="960120"/>
          </a:xfrm>
          <a:prstGeom prst="rect">
            <a:avLst/>
          </a:prstGeom>
          <a:solidFill>
            <a:srgbClr val="F5F7F4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32320" y="278892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
</a:t>
            </a:r>
            <a:pPr algn="ct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0~1024 B
</a:t>
            </a:r>
            <a:pPr algn="ctr" indent="0" marL="0">
              <a:buNone/>
            </a:pPr>
            <a:r>
              <a:rPr lang="en-US" sz="10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随命令而定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9966960" y="2788920"/>
            <a:ext cx="1371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966960" y="278892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CRC32
</a:t>
            </a:r>
            <a:pPr algn="ct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B
</a:t>
            </a:r>
            <a:pPr algn="ctr" indent="0" marL="0">
              <a:buNone/>
            </a:pPr>
            <a:r>
              <a:rPr lang="en-US" sz="10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校验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548640" y="40233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长度 = 功能码(1) + 数据 + CRC(4) 的总字节数（小端）。请求功能码 = 命令码；响应功能码 = 请求功能码按位取反（FC ^ 0xFF），据此区分请求与响应。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548640" y="45720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通用约定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901184"/>
          <a:ext cx="557784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33832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err（data[1]）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所有子命令响应的第 2 字节；0 = 成功，非 0 见各类错误码表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 回显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所有子命令响应回显请求的子命令码（data[0]）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位图 bitmap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解锁类多标签结果位图；bit n = 第 n 张期望标签已确认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 19"/>
          <p:cNvSpPr/>
          <p:nvPr/>
        </p:nvSpPr>
        <p:spPr>
          <a:xfrm>
            <a:off x="6400800" y="45720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版本说明</a:t>
            </a:r>
            <a:endParaRPr lang="en-US" sz="13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4901184"/>
          <a:ext cx="523951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371600"/>
                <a:gridCol w="341071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版本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日期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V1.0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2026-08-24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初版定版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V1.1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2026-09-12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增补 CRC 算法与 HID 传输层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V1.2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2026-09-19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增补行程开关异常灯语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V1.3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2026-09-20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解锁 0x10 / 0x11 双通道；移除 AM 控制章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CRC-32 校验算法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 章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58521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11480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参数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取值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算法名称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CRC-32 / MPEG-2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生成多项式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0x04C11DB7（正序 · MSB first）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初值 Init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0xFFFFFFFF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输入反射 RefIn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无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输出反射 RefOut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无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结果异或 XorOut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无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存放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 字节小端（低字节在前）追加帧尾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720840" y="105156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校验范围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自帧头（53 77）起，至数据区末尾止 — 不含 CRC 字段本身；逐字节、按位 MSB first 计算。
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验证例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握手请求 53 77 01 00 05 00 01 → CRC = 26 2F 69 C5，线上字节序 C5 69 2F 26。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548640" y="3520440"/>
            <a:ext cx="11091672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5875">
            <a:solidFill>
              <a:srgbClr val="C8B27E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77240" y="3657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 参考实现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777240" y="3977640"/>
            <a:ext cx="106344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uint32_t crc32_mpeg2(const uint8_t *p, size_t n)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uint32_t crc = 0xFFFFFFFF;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(n--) {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crc ^= (uint32_t)*p++ &lt;&lt; 24;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(int i = 0; i &lt; 8; i++)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crc = (crc &amp; 0x80000000) ? (crc &lt;&lt; 1) ^ 0x04C11DB7 : crc &lt;&lt; 1;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crc;          /* 低字节在前（小端）追加帧尾 */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USB HID 传输层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 章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1109167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880567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项目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内容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设备标识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VID 0x5377 · PID 0x5378 · 产品名 SwCcrd · bcdDevice 0x0200 · 自供电 100 mA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接口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接口 0 · HID 类（class 03 / subclass 00 / protocol 00）· 报告描述符 43 字节 · 无报告 ID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端点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EP1 IN（地址 0x81）· 中断传输 · 64 字节 · 轮询 16 ms　｜　EP2 OUT（地址 0x02）· 中断传输 · 64 字节 · 轮询 16 ms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输出报告（上位机→设备）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[0x00] + 帧流（每报告 64 字节，有效载荷 ≤ 63 字节）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输入报告（设备→上位机）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[0x02] + 帧流（每个报告均带此头字节，含续包）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分包规则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帧长 &gt; 63 字节时跨多报告续传，帧流按序拼接；帧与帧首尾相接，按 53 77 同步头与长度域切分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3246120"/>
            <a:ext cx="11091672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5875">
            <a:solidFill>
              <a:srgbClr val="C8B27E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77240" y="3383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完整交互示例 — 握手 0x01（单报告即可承载，剩余字节补零）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777240" y="3703320"/>
            <a:ext cx="106344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OUT: 00 53 77 01 00 05 00 01 C5 69 2F 26                  ← [0x00] + 请求帧（11 B）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: 02 53 77 01 00 21 00 FE 00 03 01 1C D9 37 30 38 33 0B 00 39 35 37 39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9D 43 A2 4D 01 00 00 00 00 00 C2 01 00 25 56 0B 38  ← [0x02] + 响应帧（39 B）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548640" y="5257800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时序注意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软复位（0x08）后设备 USB 重新枚举，上位机须重连再握手；② 复位后 UHF 模块约 3–5 s 才就绪，期间盘点命令超时，建议先查链路状态（0x21 07）。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命令总览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 章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1672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554480"/>
                <a:gridCol w="2011680"/>
                <a:gridCol w="633679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功能码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类别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名称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用途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0x01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系统层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握手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确认链路与设备在线，返回协议版本、UID 等信息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0x07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系统层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设备信息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读取设备地址与硬件 / 软件版本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0x08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系统层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软件复位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设备回 OK 后立即复位重启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0x21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UHF 控制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超高频读写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盘点、读写标签、配置、链路状态、自动扫描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0x23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解锁命令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开锁业务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EPC 解锁 0x10 / AM 解锁 0x11、取消、状态与进度查询、事件推送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63550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本文件仅公开系统层、UHF 与解锁命令；其余功能码（电机、灯、自检、IO、消磁器 0x22 等）为厂商内部接口。消磁器按默认参数自主运行，全程不受设备控制。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left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394192" y="896112"/>
            <a:ext cx="3246120" cy="5074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828800"/>
            <a:ext cx="2743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壹</a:t>
            </a:r>
            <a:endParaRPr lang="en-US" sz="8800" dirty="0"/>
          </a:p>
        </p:txBody>
      </p:sp>
      <p:sp>
        <p:nvSpPr>
          <p:cNvPr id="4" name="Text 1"/>
          <p:cNvSpPr/>
          <p:nvPr/>
        </p:nvSpPr>
        <p:spPr>
          <a:xfrm>
            <a:off x="548640" y="338328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系统层命令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548640" y="42976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握手 · 设备信息 · 软件复位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5029200"/>
            <a:ext cx="2194560" cy="0"/>
          </a:xfrm>
          <a:prstGeom prst="line">
            <a:avLst/>
          </a:prstGeom>
          <a:noFill/>
          <a:ln w="19050">
            <a:solidFill>
              <a:srgbClr val="C8B27E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握手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系统层 · 0x01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0x01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确认通信链路与设备在线。用于上电初始化或断线重连后的设备发现。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（无）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data 为空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2350008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2679192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result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 = 成功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ProtoVer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协议版本号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Status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设备运行状态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UID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芯片唯一 ID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UidHash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UID 哈希（小端）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Layer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= 应用层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UpgradeCnt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累计升级次数（小端）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BaudRate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当前波特率（小端）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96512"/>
            <a:ext cx="3200400" cy="1865376"/>
          </a:xfrm>
          <a:prstGeom prst="roundRect">
            <a:avLst>
              <a:gd name="adj" fmla="val 2451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测试帧（实测）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352544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526280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data 为空；设备回 0xFE，含协议版本与 UID，用于确认在线。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4892040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5084064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1C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0B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9D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4D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0B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568696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result=0 · ProtoVer=3 · Layer=1 · Baud=115200（实测）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设备信息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系统层 · 0x07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0x07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读取设备通信地址与硬件、软件版本字符串，用于版本核对与资产管理。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（无）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data 为空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2350008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2679192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result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 = 成功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Addr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设备通信地址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hwVersion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16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硬件版本字符串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swVersion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16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软件版本字符串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96512"/>
            <a:ext cx="3200400" cy="2020824"/>
          </a:xfrm>
          <a:prstGeom prst="roundRect">
            <a:avLst>
              <a:gd name="adj" fmla="val 2262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测试帧（实测）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352544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3C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526280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data 为空；回帧含设备地址与硬件 / 软件版本字符串。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4892040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5084064"/>
            <a:ext cx="29809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4C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3C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724144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result=0 · Addr=1 · 硬件 C8T6_V1.0（实测）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软件复位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系统层 · 0x08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0x08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命令设备软复位。设备先回复 OK，随后立即重启；重启后需重新握手。复位期间请勿下发其他命令。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（无）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data 为空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2350008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2679192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result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 = 成功（回帧后复位）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96512"/>
            <a:ext cx="3200400" cy="1380744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测试帧（实测）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352544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526280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设备回 result=0 后立即复位重启；重启后需重新握手。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4892040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5084064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7B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257800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result=0，回帧后设备复位重启（实测）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left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394192" y="896112"/>
            <a:ext cx="3246120" cy="5074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828800"/>
            <a:ext cx="2743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贰</a:t>
            </a:r>
            <a:endParaRPr lang="en-US" sz="8800" dirty="0"/>
          </a:p>
        </p:txBody>
      </p:sp>
      <p:sp>
        <p:nvSpPr>
          <p:cNvPr id="4" name="Text 1"/>
          <p:cNvSpPr/>
          <p:nvPr/>
        </p:nvSpPr>
        <p:spPr>
          <a:xfrm>
            <a:off x="548640" y="338328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UHF 超高频控制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548640" y="42976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功能码 0x21 · 子命令随 data[0] 下发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5029200"/>
            <a:ext cx="2194560" cy="0"/>
          </a:xfrm>
          <a:prstGeom prst="line">
            <a:avLst/>
          </a:prstGeom>
          <a:noFill/>
          <a:ln w="19050">
            <a:solidFill>
              <a:srgbClr val="C8B27E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同步盘点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UHF · 0x21 03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0x21</a:t>
            </a:r>
            <a:pPr indent="0" marL="0">
              <a:buNone/>
            </a:pPr>
            <a:r>
              <a:rPr lang="en-US" sz="54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·03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一次同步盘点：设备内部完成盘点并直接在响应帧内返回全部标签（含 RSSI），无主动上报。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0x03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timeout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盘点时限 ms（小端）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2660904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2990088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 / err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回显 + 错误码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count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标签数（小端）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{rssi, epcLen, epc…}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count ×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每张标签：RSSI(1) + EPC 长度(1) + EPC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96512"/>
            <a:ext cx="3200400" cy="1865376"/>
          </a:xfrm>
          <a:prstGeom prst="roundRect">
            <a:avLst>
              <a:gd name="adj" fmla="val 2451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测试帧（实测）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352544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3D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CB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526280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盘点时限 1000 ms（E8 03 小端）；响应帧内直接返回全部标签。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4892040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5084064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0C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EB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0C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568696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err=0 · 2 张在位标签，rssi 在前（实测）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读标签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UHF · 0x21 04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0x21</a:t>
            </a:r>
            <a:pPr indent="0" marL="0">
              <a:buNone/>
            </a:pPr>
            <a:r>
              <a:rPr lang="en-US" sz="54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·04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读取标签存储区数据。异步执行：响应只表示已受理，读回数据进入标签缓冲，经 0x0A 拉取。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epcLen + epc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1+n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目标 EPC（当前版本读首张标签，EPC 为预留）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bank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存储区：1 EPC / 2 TID / 3 USER / 0 保留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addr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起始地址（字）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cnt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读取字数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3593592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3922776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 / err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回显 + 0 = 已受理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4160520" y="4800600"/>
            <a:ext cx="7479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读回数据（3~16 字节）完成后进入缓冲，以 0x0A 拉取：该项 rssi=0、epcLen=数据长度、epc=数据内容。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548640" y="4096512"/>
            <a:ext cx="3200400" cy="1709928"/>
          </a:xfrm>
          <a:prstGeom prst="roundRect">
            <a:avLst>
              <a:gd name="adj" fmla="val 2674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测试帧（实测）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658368" y="4352544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0C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6A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658368" y="4681728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 USER 区（bank=3）地址 0 起 4 字；回帧仅表受理，数据经 0x0A 拉取。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658368" y="5047488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658368" y="5239512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57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658368" y="5413248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err=0 = 已受理；读回数据经 0x0A 拉取（实测）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写标签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UHF · 0x21 05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0x21</a:t>
            </a:r>
            <a:pPr indent="0" marL="0">
              <a:buNone/>
            </a:pPr>
            <a:r>
              <a:rPr lang="en-US" sz="54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·05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向标签存储区写入数据。异步下发：响应只表示命令已受理，写结果建议读回核验。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0x05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epcLen + epc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1+n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目标 EPC（当前版本写首张标签，EPC 为预留）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bank / addr / len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存储区 / 起始地址（字）/ 写入字节数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data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len×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写入数据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3282696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3611880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 / err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回显 + 0 = 已受理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4160520" y="4489704"/>
            <a:ext cx="7479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bank 映射同 0x04：1 EPC / 2 TID / 3 USER / 0 保留。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548640" y="4096512"/>
            <a:ext cx="3200400" cy="169164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测试帧（实测）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658368" y="4352544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0C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658368" y="4837176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向首张标签 USER 区地址 0 写 4 字节 12 34 56 78（受理即回帧）。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658368" y="5202936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658368" y="5394960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85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658368" y="5568696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err=0 = 命令已受理下发（实测）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停止当前操作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UHF · 0x21 06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0x21</a:t>
            </a:r>
            <a:pPr indent="0" marL="0">
              <a:buNone/>
            </a:pPr>
            <a:r>
              <a:rPr lang="en-US" sz="54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·06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中止进行中的盘点 / 读 / 写操作。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0x06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2350008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2679192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 / err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回显 + 0 = 成功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96512"/>
            <a:ext cx="3200400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测试帧（实测）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352544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F7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526280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中止进行中的盘点 / 读 / 写操作。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4718304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4910328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FC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7B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F7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084064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err=0 已停止（实测）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链路状态查询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UHF · 0x21 07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0x21</a:t>
            </a:r>
            <a:pPr indent="0" marL="0">
              <a:buNone/>
            </a:pPr>
            <a:r>
              <a:rPr lang="en-US" sz="54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·07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查询 UHF 模块链路与工作状态，用于周期性健康检查。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0x07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2350008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2679192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 / err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回显 + 错误码（未上电回 3 NOT READY）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state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模块状态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link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 = 链路正常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totalTags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累计读到标签数（≤255）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96512"/>
            <a:ext cx="3200400" cy="1536192"/>
          </a:xfrm>
          <a:prstGeom prst="roundRect">
            <a:avLst>
              <a:gd name="adj" fmla="val 2976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测试帧（实测）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352544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F3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526280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查询链路；回帧含链路通断与就绪状态。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4718304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4910328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52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239512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err=0 · state=1 · link=0 · total=2（实测）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读配置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UHF · 0x21 08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0x21</a:t>
            </a:r>
            <a:pPr indent="0" marL="0">
              <a:buNone/>
            </a:pPr>
            <a:r>
              <a:rPr lang="en-US" sz="54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·08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读取 UHF 模块当前工作配置（发射功率、天线、会话参数、频段等）。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0x08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2350008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2679192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 / err + 配置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回显 + 当前配置项（同 0x09 写配置字段）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96512"/>
            <a:ext cx="3200400" cy="1362456"/>
          </a:xfrm>
          <a:prstGeom prst="roundRect">
            <a:avLst>
              <a:gd name="adj" fmla="val 3356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测试帧（实测）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352544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CB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526280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读取当前配置；回帧字段与 0x09 写配置一一对应。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4718304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4910328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8B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239512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err=0 · 返回当前 7 字节配置（实测）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写配置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UHF · 0x21 09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0x21</a:t>
            </a:r>
            <a:pPr indent="0" marL="0">
              <a:buNone/>
            </a:pPr>
            <a:r>
              <a:rPr lang="en-US" sz="54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·09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设置 UHF 模块工作配置并保存。自动扫描进行中时，新配置在下一轮盘点前生效。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0x09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powerDbm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发射功率 dBm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antenna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天线号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checksumEn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CRC 校验使能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session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盘点会话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target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目标标志 A/B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q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Q 值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band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频段（按模块支持）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452628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485546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 / err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回显 + 0 = 成功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96512"/>
            <a:ext cx="3200400" cy="1709928"/>
          </a:xfrm>
          <a:prstGeom prst="roundRect">
            <a:avLst>
              <a:gd name="adj" fmla="val 2674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测试帧（实测）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352544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0D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DD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61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681728"/>
            <a:ext cx="298094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功率 26 dBm · 天线 1 · 校验开 · Session 1 · 目标 A · Q=4 · 频段 1。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5221224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5413248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4A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586984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err=0，配置已接受并保存（实测）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读取标签缓冲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UHF · 0x21 0A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0x21</a:t>
            </a:r>
            <a:pPr indent="0" marL="0">
              <a:buNone/>
            </a:pPr>
            <a:r>
              <a:rPr lang="en-US" sz="54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·0A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取走自动扫描缓冲中的标签（含 RSSI）。count = 0 取全部，&gt; 0 取前 count 条。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0x0A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count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 = 全部；&gt; 0 = 前 count 条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2660904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2990088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 / err + count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回显 + 错误码 + 标签数（小端）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{epcLen, rssi, epc…}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count ×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每张：EPC 长度(1) + RSSI(1) + EPC（顺序与 0x03 相反）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96512"/>
            <a:ext cx="3200400" cy="1865376"/>
          </a:xfrm>
          <a:prstGeom prst="roundRect">
            <a:avLst>
              <a:gd name="adj" fmla="val 2451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测试帧（实测）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352544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8F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526280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count=0：取走自动扫描缓冲内全部标签（含 RSSI）。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4892040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5084064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0C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0C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EB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DD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568696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err=0 · 2 张缓冲标签，epcLen 在前（实测）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天线回波检测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UHF · 0x21 0C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0x21</a:t>
            </a:r>
            <a:pPr indent="0" marL="0">
              <a:buNone/>
            </a:pPr>
            <a:r>
              <a:rPr lang="en-US" sz="54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·0C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主动触发一次天线回波检测，验证天线连接是否正常。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0x0C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2350008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3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2679192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 / err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回显 + 0 = 检测通过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antennaOk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= 天线正常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antRl / antVswr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2+2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回波损耗 / 驻波比（高字节在前）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96512"/>
            <a:ext cx="3200400" cy="1536192"/>
          </a:xfrm>
          <a:prstGeom prst="roundRect">
            <a:avLst>
              <a:gd name="adj" fmla="val 2976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测试帧（实测）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352544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0C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D8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526280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触发一次天线回波检测；err=0 表示天线连接正常。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4718304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4910328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0C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0C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97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239512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err=0 · antOk=1 · antRl=90 · VSWR=210（实测）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启动自动扫描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UHF · 0x21 0D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0x21</a:t>
            </a:r>
            <a:pPr indent="0" marL="0">
              <a:buNone/>
            </a:pPr>
            <a:r>
              <a:rPr lang="en-US" sz="54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·0D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连续盘点并写入缓冲，不主动上报；上位机周期性以 0x0A 拉取。识别到标签蜂鸣 50 ms 提示。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cycle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扫描周期 ms（小端）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2660904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4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2990088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 / err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回显 + 0 = 成功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96512"/>
            <a:ext cx="3200400" cy="1380744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测试帧（实测）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352544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0D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C1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526280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 1000 ms 周期连续盘点写入缓冲，配合 0x0A 拉取。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4892040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5084064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0D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7D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0F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257800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err=0 扫描已启动（实测）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停止自动扫描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UHF · 0x21 0E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0x21</a:t>
            </a:r>
            <a:pPr indent="0" marL="0">
              <a:buNone/>
            </a:pPr>
            <a:r>
              <a:rPr lang="en-US" sz="54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·0E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停止自动扫描并中止当前盘点。缓冲数据仍可用 0x0A 拉取。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2350008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4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2679192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 / err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回显 + 0 = 成功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96512"/>
            <a:ext cx="3200400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测试帧（实测）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352544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D1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526280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停止自动扫描；缓冲数据仍可用 0x0A 拉取。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4718304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4910328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7D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084064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err=0 扫描已停止（实测）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UHF 错误码（data[1]）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UHF · 0x21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ERR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所有 0x21 子命令的响应中，data[1] 为错误码；0 表示成功。</a:t>
            </a:r>
            <a:endParaRPr lang="en-US" sz="13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143000"/>
          <a:ext cx="68580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603504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值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含义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成功 OK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参数非法 PARAM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忙 BUSY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未就绪 NOT READY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链路故障 LINK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无标签 NO TAG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超时 TIMEOUT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left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394192" y="896112"/>
            <a:ext cx="3246120" cy="5074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828800"/>
            <a:ext cx="2743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叁</a:t>
            </a:r>
            <a:endParaRPr lang="en-US" sz="8800" dirty="0"/>
          </a:p>
        </p:txBody>
      </p:sp>
      <p:sp>
        <p:nvSpPr>
          <p:cNvPr id="4" name="Text 1"/>
          <p:cNvSpPr/>
          <p:nvPr/>
        </p:nvSpPr>
        <p:spPr>
          <a:xfrm>
            <a:off x="548640" y="338328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解锁命令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548640" y="42976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功能码 0x23 · 含解锁流程图与灯控映射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5029200"/>
            <a:ext cx="2194560" cy="0"/>
          </a:xfrm>
          <a:prstGeom prst="line">
            <a:avLst/>
          </a:prstGeom>
          <a:noFill/>
          <a:ln w="19050">
            <a:solidFill>
              <a:srgbClr val="C8B27E"/>
            </a:solidFill>
            <a:prstDash val="solid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取消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解锁 · 0x23 04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0x23</a:t>
            </a:r>
            <a:pPr indent="0" marL="0">
              <a:buNone/>
            </a:pPr>
            <a:r>
              <a:rPr lang="en-US" sz="54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·04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取消当前操作，回到空闲。解锁流程进行中仅允许本命令、0x05 状态查询与 0x09 进度查询；取消立即回 OK，流程由各自终帧（0x10 / 0x11）以 endReason=6 报告（0x10 升起段取消先安全回降再结账；0x11 无机械段，窗内即回）。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2350008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4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2679192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 / err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回显 + 0 = 成功（立即回帧）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96512"/>
            <a:ext cx="3200400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测试帧（实测）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352544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5E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526280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取消当前解锁流程；磁块安全回降后回帧。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4718304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4910328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FD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BC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54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084064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err=0（实测，空闲态取消）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状态查询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解锁 · 0x23 05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0x23</a:t>
            </a:r>
            <a:pPr indent="0" marL="0">
              <a:buNone/>
            </a:pPr>
            <a:r>
              <a:rPr lang="en-US" sz="54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·05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查询开锁业务状态机与计数快照。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0x05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2350008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5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2679192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 / err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回显 + 错误码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state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 空闲 / 1 等放标 / 2 校对 / 3 升起 / 4 回降 / 5 软标计数 / 7 保持 / 8 完成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hm / sc / su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硬标期望 / 软标期望 / 软标已解（各 2 字节）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faultReason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最近故障原因诊断码，0 = 无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96512"/>
            <a:ext cx="3200400" cy="1709928"/>
          </a:xfrm>
          <a:prstGeom prst="roundRect">
            <a:avLst>
              <a:gd name="adj" fmla="val 2674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测试帧（实测）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352544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5A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526280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查询状态机；回帧含 state 与硬 / 软标计数快照。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4892040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5084064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7E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413248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err=0 · state=0 空闲 · 计数全 0（实测）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进度查询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解锁 · 0x23 09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0x23</a:t>
            </a:r>
            <a:pPr indent="0" marL="0">
              <a:buNone/>
            </a:pPr>
            <a:r>
              <a:rPr lang="en-US" sz="54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·09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解锁流程中拉取实时进度；无流程时 phase = 0、计数全零。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0x09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2350008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5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2679192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 / err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回显 + 错误码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phase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 无 / 1 等放标 / 2 校对 / 3 升起 / 4 回降 / 5 计数 / 7 保持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holdMs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自放标触发已过 ms（3 字节小端，未触发为 0）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total / confirmed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期望标签数 / 已确认数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bitmap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确认位图：bit n = 第 n 张已确认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softCnt / softDone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软标已解数 / 软标完成标志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96512"/>
            <a:ext cx="3200400" cy="1709928"/>
          </a:xfrm>
          <a:prstGeom prst="roundRect">
            <a:avLst>
              <a:gd name="adj" fmla="val 2674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测试帧（实测）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352544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6F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526280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拉取实时进度：phase / 解锁窗 / 确认位图 / 软标计数。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4892040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5084064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0C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413248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err=0 · phase=0 · 全零（实测无流程）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EPC 解锁 · 参数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解锁 · 0x23 10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0x23</a:t>
            </a:r>
            <a:pPr indent="0" marL="0">
              <a:buNone/>
            </a:pPr>
            <a:r>
              <a:rPr lang="en-US" sz="54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·10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EPC 解锁：单帧下发 1 张期望 EPC，设备阻塞自治执行 红外门控 → 3 发稳定确认 → 升起监守 → 顶部保持 → 周期末回降（详见流程图页）。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777240"/>
                <a:gridCol w="491947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0x10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tmo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单发盘点超时 ms（缺省 100，小端）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win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单轮光电等待窗 W ms（默认 20000）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holdTop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顶部保持 ms（默认 3000，上限 60000）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rsv0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流程超时秒：0 单轮 / &gt;0 循环模式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epcLen + epc…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+ 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期望 EPC：长度 1 ~ 12，字节紧跟 12 B 帧头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3904488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5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4233672"/>
          <a:ext cx="7479792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777240"/>
                <a:gridCol w="491947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 / err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回显 + 错误码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endReason / bitmap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结束原因（见错误码页）/ 确认位 bit0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rise / lower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升 / 降实际微步数（各 2 字节小端）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elapsed / cycles×3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耗时整秒（0xFFFF 封顶）/ 周期数 · 成功数 · 失败数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4160520" y="6044184"/>
            <a:ext cx="7479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rsv0&gt;0 循环模式：受理起 rsv0 秒内周期往复，周期成功须标签移走重放才开下一轮；rsv1 ~ 3 保留位终帧原样回显。蜂鸣仅两处 — 周期成功下回启动鸣 800 ms、结束 ALL_OK 鸣 1 s，中途静默。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548640" y="3496666"/>
            <a:ext cx="3200400" cy="1865376"/>
          </a:xfrm>
          <a:prstGeom prst="roundRect">
            <a:avLst>
              <a:gd name="adj" fmla="val 2451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658368" y="3533242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 · 单标签（AA×6 · 单轮）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658368" y="3752698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0B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6C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658368" y="4081882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盘点 100 ms · 等待窗 20 s · 顶部保持 3 s。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658368" y="4447642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658368" y="4639666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658368" y="4968850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终帧 err=0 · endReason=1（周期成功）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548640" y="5453482"/>
            <a:ext cx="320040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58368" y="549005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推送帧 · 0x0B 确认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658368" y="5709514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0B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3C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7B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658368" y="6038698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连稳定确认一张一帧 + 绿单闪（无蜂鸣）。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AM 解锁 · 参数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解锁 · 0x23 11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0x23</a:t>
            </a:r>
            <a:pPr indent="0" marL="0">
              <a:buNone/>
            </a:pPr>
            <a:r>
              <a:rPr lang="en-US" sz="54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·11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AM 解锁：受理起 tmo 秒计数窗内被动计数消磁器成功事件（cmd17 突发静默 3 s 结算一次，每突发一计）；达标即结账 — 全程不动电机，仅蜂鸣 1 s + 绿三连闪。消磁器从上电到结束不被控制（默认参数运行），流程仅被动接收消磁结果帧。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0x11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amCnt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期望张数 0 ~ 255；0 = 无计数门受理即结账 ALL_OK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tmo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计数窗秒（u16 小端，&gt;0，上限 16000）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rsv0 / rsv1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保留位（终帧原样回显）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3282696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5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3611880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 / err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回显 + 错误码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endReason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ALL_OK / 3 TIMEOUT 窗满 / 6 ABORTED 取消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rise / lower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恒 0（全程不动电机）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elapsed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自受理至终帧整秒（u16）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amCnt / deactDone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目标数回显 / 实际解锁数（窗满如实上报部分完成数）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deactFail / rsv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恒 0 保留 + rsv 原样回显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4160520" y="6044184"/>
            <a:ext cx="7479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窗满若有消磁突发未结算，宽限至多 3 s 等其入账；消磁重试期（一张 0.75 ~ 26 s）静默属正常，白单闪即结算提示。CANCEL 窗内立即 ABORTED（无机械段）。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548640" y="4010558"/>
            <a:ext cx="3200400" cy="169164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658368" y="4047134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 · 3 张（tmo=120 s）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658368" y="4266590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0B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7B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BB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5B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D5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658368" y="4595774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期望消磁 3 张 · 计数窗 120 s。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658368" y="4787798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658368" y="4979822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9D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1C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F7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658368" y="5309006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终帧 err=0 · endReason=1 · rise/lower 恒 0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548640" y="5793638"/>
            <a:ext cx="3200400" cy="667512"/>
          </a:xfrm>
          <a:prstGeom prst="roundRect">
            <a:avLst>
              <a:gd name="adj" fmla="val 6849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58368" y="5830214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推送帧 · 0x0E 每解锁一张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658368" y="6049670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4B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658368" y="6223406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done=1 · 一张一帧 + 白单闪（无蜂鸣）。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解锁 · 错误码与结束原因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解锁 · 0x23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ERR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0x10 / 0x11 终帧 err 字段（左）与 err=0 时的结束原因 endReason（右）。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错误码（终帧 data[1]）</a:t>
            </a:r>
            <a:endParaRPr lang="en-US" sz="13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81328"/>
          <a:ext cx="35661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74320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值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含义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成功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忙 BUSY（须先取消）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参数非法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/ 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UHF 启动 / 链路失败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未回零 / 行程开关错误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 / 9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电机故障 / 电机超时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AM 链路故障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放标光电超时（0x10）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8092440" y="11430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结束原因 endReason（err=0）</a:t>
            </a:r>
            <a:endParaRPr lang="en-US" sz="1300" dirty="0"/>
          </a:p>
        </p:txBody>
      </p:sp>
      <p:graphicFrame>
        <p:nvGraphicFramePr>
          <p:cNvPr id="5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92440" y="1481328"/>
          <a:ext cx="35661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74320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值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含义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ALL_OK：0x10 保持满在场 / 0x11 计数达标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0x10 单轮保持期 EPC 消失提前结束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0x10 单轮 W 窗满未确认 / 0x11 计数窗满未达标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UHF 链路失联（0x10）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被 0x04 取消（0x11 无机械段，窗内即回）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4160520" y="4892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0x11 全程不动电机 + 不探测消磁器链路：err 7 / 8 / 9 / 10 对 0x11 不可达（编码保留兼容）；消磁器静默只按窗满 TIMEOUT 结账。0x0A 多标签解锁已停用（任意请求回 err=2）。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EPC 解锁流程图（0x10 下发至完成）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解锁 · 0x23 10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041648" y="868680"/>
            <a:ext cx="27889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767328" y="86868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前置检查（空闲 · 已回零）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36108" y="1216152"/>
            <a:ext cx="0" cy="109728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4041648" y="1325880"/>
            <a:ext cx="27889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767328" y="132588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下发 0x10（epcLen · tmo · win · holdTop · rsv0 · EPC）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436108" y="1673352"/>
            <a:ext cx="0" cy="109728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4041648" y="1783080"/>
            <a:ext cx="27889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767328" y="178308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受理 · 推送 0x0F（蓝慢闪前 · phase=1）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436108" y="2130552"/>
            <a:ext cx="0" cy="109728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4041648" y="2240280"/>
            <a:ext cx="27889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767328" y="224028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红外门控等放标（挡住 200 ms · 白慢闪）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436108" y="2587752"/>
            <a:ext cx="0" cy="109728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4041648" y="2697480"/>
            <a:ext cx="27889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767328" y="269748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持续校对 0x21 逐发（~27 ms/发 · 蓝慢闪）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436108" y="3044952"/>
            <a:ext cx="0" cy="109728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4361688" y="3072384"/>
            <a:ext cx="2148840" cy="512064"/>
          </a:xfrm>
          <a:prstGeom prst="diamond">
            <a:avLst/>
          </a:prstGeom>
          <a:solidFill>
            <a:srgbClr val="FFFFFF"/>
          </a:solidFill>
          <a:ln w="15875">
            <a:solidFill>
              <a:srgbClr val="C8B27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767328" y="3072384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发读到且 EPC 一致？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36108" y="3584448"/>
            <a:ext cx="0" cy="-54864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4041648" y="3611880"/>
            <a:ext cx="27889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767328" y="361188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稳定确认 · 推 0x0B（绿单闪 · 无蜂鸣）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436108" y="3959352"/>
            <a:ext cx="0" cy="109728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4041648" y="4069080"/>
            <a:ext cx="27889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767328" y="406908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升起磁块 KEY_UP（盘点不停监守）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436108" y="4416552"/>
            <a:ext cx="0" cy="109728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4361688" y="4443984"/>
            <a:ext cx="2148840" cy="512064"/>
          </a:xfrm>
          <a:prstGeom prst="diamond">
            <a:avLst/>
          </a:prstGeom>
          <a:solidFill>
            <a:srgbClr val="FFFFFF"/>
          </a:solidFill>
          <a:ln w="15875">
            <a:solidFill>
              <a:srgbClr val="C8B27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767328" y="4443984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移除 / 更换标签？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436108" y="4956048"/>
            <a:ext cx="0" cy="-54864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4041648" y="4983480"/>
            <a:ext cx="27889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767328" y="498348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顶部保持 holdTop（3 s 默认 · 绿常亮）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5436108" y="5330952"/>
            <a:ext cx="0" cy="109728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4041648" y="5440680"/>
            <a:ext cx="27889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767328" y="544068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周期末回降 KEY_DOWN（启动鸣 800 ms）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5436108" y="5788152"/>
            <a:ext cx="0" cy="109728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38" name="Shape 35"/>
          <p:cNvSpPr/>
          <p:nvPr/>
        </p:nvSpPr>
        <p:spPr>
          <a:xfrm>
            <a:off x="4041648" y="5897880"/>
            <a:ext cx="2788920" cy="347472"/>
          </a:xfrm>
          <a:prstGeom prst="roundRect">
            <a:avLst>
              <a:gd name="adj" fmla="val 13158"/>
            </a:avLst>
          </a:prstGeom>
          <a:solidFill>
            <a:srgbClr val="EDF2EE"/>
          </a:solidFill>
          <a:ln w="19050">
            <a:solidFill>
              <a:srgbClr val="3F5A52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767328" y="589788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单轮终帧 / 循环下一周期（ALL_OK 鸣 1 s）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7150608" y="4700016"/>
            <a:ext cx="1234440" cy="0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41" name="Text 38"/>
          <p:cNvSpPr/>
          <p:nvPr/>
        </p:nvSpPr>
        <p:spPr>
          <a:xfrm>
            <a:off x="7178040" y="440740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是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8092440" y="4133088"/>
            <a:ext cx="3520440" cy="1051560"/>
          </a:xfrm>
          <a:prstGeom prst="roundRect">
            <a:avLst>
              <a:gd name="adj" fmla="val 5217"/>
            </a:avLst>
          </a:prstGeom>
          <a:solidFill>
            <a:srgbClr val="F5F7F4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211312" y="4133088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移除（3 发空射）/ 更换（外来 EPC）
</a:t>
            </a:r>
            <a:pPr indent="0" marL="0"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停机 + 免疫收起 · 周期失败（不鸣）
</a:t>
            </a:r>
            <a:pPr indent="0" marL="0">
              <a:buNone/>
            </a:pPr>
            <a:r>
              <a:rPr lang="en-US" sz="10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循环模式免手势直接回归再升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5527548" y="343814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否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5527548" y="480974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否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3429000" y="2871216"/>
            <a:ext cx="0" cy="457200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3429000" y="3328416"/>
            <a:ext cx="612648" cy="0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headEnd type="triangle"/>
          </a:ln>
        </p:spPr>
      </p:sp>
      <p:sp>
        <p:nvSpPr>
          <p:cNvPr id="48" name="Text 45"/>
          <p:cNvSpPr/>
          <p:nvPr/>
        </p:nvSpPr>
        <p:spPr>
          <a:xfrm>
            <a:off x="2212848" y="291693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否 · 继续校对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548640" y="9144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异常出口</a:t>
            </a:r>
            <a:endParaRPr lang="en-US" sz="1250" dirty="0"/>
          </a:p>
        </p:txBody>
      </p:sp>
      <p:sp>
        <p:nvSpPr>
          <p:cNvPr id="50" name="Shape 47"/>
          <p:cNvSpPr/>
          <p:nvPr/>
        </p:nvSpPr>
        <p:spPr>
          <a:xfrm>
            <a:off x="548640" y="731520"/>
            <a:ext cx="2606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40080" y="731520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前置失败（忙 / 未回零）
</a:t>
            </a:r>
            <a:pPr indent="0" marL="0">
              <a:buNone/>
            </a:pPr>
            <a:r>
              <a:rPr lang="en-US" sz="10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 = 1 / err = 7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3154680" y="1042416"/>
            <a:ext cx="886968" cy="0"/>
          </a:xfrm>
          <a:prstGeom prst="line">
            <a:avLst/>
          </a:prstGeom>
          <a:noFill/>
          <a:ln w="12700">
            <a:solidFill>
              <a:srgbClr val="C8B27E"/>
            </a:solidFill>
            <a:prstDash val="dash"/>
            <a:tailEnd type="triangle"/>
          </a:ln>
        </p:spPr>
      </p:sp>
      <p:sp>
        <p:nvSpPr>
          <p:cNvPr id="53" name="Shape 50"/>
          <p:cNvSpPr/>
          <p:nvPr/>
        </p:nvSpPr>
        <p:spPr>
          <a:xfrm>
            <a:off x="548640" y="2103120"/>
            <a:ext cx="2606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40080" y="2103120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单轮放标窗 W 满
</a:t>
            </a:r>
            <a:pPr indent="0" marL="0">
              <a:buNone/>
            </a:pPr>
            <a:r>
              <a:rPr lang="en-US" sz="10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 = 11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3154680" y="2414016"/>
            <a:ext cx="886968" cy="0"/>
          </a:xfrm>
          <a:prstGeom prst="line">
            <a:avLst/>
          </a:prstGeom>
          <a:noFill/>
          <a:ln w="12700">
            <a:solidFill>
              <a:srgbClr val="C8B27E"/>
            </a:solidFill>
            <a:prstDash val="dash"/>
            <a:tailEnd type="triangle"/>
          </a:ln>
        </p:spPr>
      </p:sp>
      <p:sp>
        <p:nvSpPr>
          <p:cNvPr id="56" name="Shape 53"/>
          <p:cNvSpPr/>
          <p:nvPr/>
        </p:nvSpPr>
        <p:spPr>
          <a:xfrm>
            <a:off x="548640" y="3474720"/>
            <a:ext cx="2606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640080" y="3474720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单轮 W 窗满未确认
</a:t>
            </a:r>
            <a:pPr indent="0" marL="0">
              <a:buNone/>
            </a:pPr>
            <a:r>
              <a:rPr lang="en-US" sz="10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endReason = 3</a:t>
            </a:r>
            <a:endParaRPr lang="en-US" sz="1100" dirty="0"/>
          </a:p>
        </p:txBody>
      </p:sp>
      <p:sp>
        <p:nvSpPr>
          <p:cNvPr id="58" name="Shape 55"/>
          <p:cNvSpPr/>
          <p:nvPr/>
        </p:nvSpPr>
        <p:spPr>
          <a:xfrm>
            <a:off x="3154680" y="3785616"/>
            <a:ext cx="886968" cy="0"/>
          </a:xfrm>
          <a:prstGeom prst="line">
            <a:avLst/>
          </a:prstGeom>
          <a:noFill/>
          <a:ln w="12700">
            <a:solidFill>
              <a:srgbClr val="C8B27E"/>
            </a:solidFill>
            <a:prstDash val="dash"/>
            <a:tailEnd type="triangle"/>
          </a:ln>
        </p:spPr>
      </p:sp>
      <p:sp>
        <p:nvSpPr>
          <p:cNvPr id="59" name="Shape 56"/>
          <p:cNvSpPr/>
          <p:nvPr/>
        </p:nvSpPr>
        <p:spPr>
          <a:xfrm>
            <a:off x="548640" y="4297680"/>
            <a:ext cx="2606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640080" y="4297680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UHF 失联 5 s
</a:t>
            </a:r>
            <a:pPr indent="0" marL="0">
              <a:buNone/>
            </a:pPr>
            <a:r>
              <a:rPr lang="en-US" sz="10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endReason = 4</a:t>
            </a:r>
            <a:endParaRPr lang="en-US" sz="1100" dirty="0"/>
          </a:p>
        </p:txBody>
      </p:sp>
      <p:sp>
        <p:nvSpPr>
          <p:cNvPr id="61" name="Shape 58"/>
          <p:cNvSpPr/>
          <p:nvPr/>
        </p:nvSpPr>
        <p:spPr>
          <a:xfrm>
            <a:off x="3154680" y="4608576"/>
            <a:ext cx="886968" cy="0"/>
          </a:xfrm>
          <a:prstGeom prst="line">
            <a:avLst/>
          </a:prstGeom>
          <a:noFill/>
          <a:ln w="12700">
            <a:solidFill>
              <a:srgbClr val="C8B27E"/>
            </a:solidFill>
            <a:prstDash val="dash"/>
            <a:tailEnd type="triangle"/>
          </a:ln>
        </p:spPr>
      </p:sp>
      <p:sp>
        <p:nvSpPr>
          <p:cNvPr id="62" name="Shape 59"/>
          <p:cNvSpPr/>
          <p:nvPr/>
        </p:nvSpPr>
        <p:spPr>
          <a:xfrm>
            <a:off x="548640" y="5760720"/>
            <a:ext cx="2606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640080" y="5760720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任意阶段 0x04 取消
</a:t>
            </a:r>
            <a:pPr indent="0" marL="0">
              <a:buNone/>
            </a:pPr>
            <a:r>
              <a:rPr lang="en-US" sz="10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安全回降 · endReason = 6</a:t>
            </a:r>
            <a:endParaRPr lang="en-US" sz="1100" dirty="0"/>
          </a:p>
        </p:txBody>
      </p:sp>
      <p:sp>
        <p:nvSpPr>
          <p:cNvPr id="64" name="Shape 61"/>
          <p:cNvSpPr/>
          <p:nvPr/>
        </p:nvSpPr>
        <p:spPr>
          <a:xfrm>
            <a:off x="3154680" y="6071616"/>
            <a:ext cx="886968" cy="0"/>
          </a:xfrm>
          <a:prstGeom prst="line">
            <a:avLst/>
          </a:prstGeom>
          <a:noFill/>
          <a:ln w="12700">
            <a:solidFill>
              <a:srgbClr val="C8B27E"/>
            </a:solidFill>
            <a:prstDash val="dash"/>
            <a:tailEnd type="triangle"/>
          </a:ln>
        </p:spPr>
      </p:sp>
      <p:sp>
        <p:nvSpPr>
          <p:cNvPr id="65" name="Text 62"/>
          <p:cNvSpPr/>
          <p:nvPr/>
        </p:nvSpPr>
        <p:spPr>
          <a:xfrm>
            <a:off x="8092440" y="562356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阶段失败码：err=3/4 UHF 启动或链路 · err=8/9 电机（自动回退安全位）。解锁态内仅受理 0x04 取消 / 0x05 / 0x09 查询，其余命令一律 BUSY。</a:t>
            </a:r>
            <a:endParaRPr lang="en-US" sz="1050" dirty="0"/>
          </a:p>
        </p:txBody>
      </p:sp>
      <p:sp>
        <p:nvSpPr>
          <p:cNvPr id="66" name="Text 63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循环模式（rsv0&gt;0）：受理起 rsv0 秒内周期往复；周期成功后须标签移走 + 红外回落再放标开下一轮（防搁置标签无限循环），周期失败免手势直接回归；窗满在周期边界判定。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AM 解锁流程图（0x11 下发至完成）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解锁 · 0x23 11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041648" y="960120"/>
            <a:ext cx="306324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721608" y="9601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下发 0x11（amCnt · tmo · rsv）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573268" y="1307592"/>
            <a:ext cx="0" cy="109728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4041648" y="1417320"/>
            <a:ext cx="306324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721608" y="14173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受理 · 推送 0x0F（白常亮 · phase=5）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573268" y="1764792"/>
            <a:ext cx="0" cy="109728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4041648" y="1874520"/>
            <a:ext cx="306324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721608" y="18745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计数窗 tmo 秒：被动接收消磁结果帧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573268" y="2221992"/>
            <a:ext cx="0" cy="109728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4041648" y="2331720"/>
            <a:ext cx="306324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721608" y="23317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突发静默 3 s 结算一次成功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573268" y="2679192"/>
            <a:ext cx="0" cy="109728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4041648" y="2788920"/>
            <a:ext cx="306324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721608" y="27889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每成功一张 · 推 0x0E（白单闪 · 无蜂鸣）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573268" y="3136392"/>
            <a:ext cx="0" cy="109728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4453128" y="3163824"/>
            <a:ext cx="2240280" cy="512064"/>
          </a:xfrm>
          <a:prstGeom prst="diamond">
            <a:avLst/>
          </a:prstGeom>
          <a:solidFill>
            <a:srgbClr val="FFFFFF"/>
          </a:solidFill>
          <a:ln w="15875">
            <a:solidFill>
              <a:srgbClr val="C8B27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721608" y="3163824"/>
            <a:ext cx="3703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已解锁数 ≥ amCnt？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573268" y="3675888"/>
            <a:ext cx="0" cy="-54864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4041648" y="3703320"/>
            <a:ext cx="306324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721608" y="37033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达标结账：蜂鸣 1 s + 绿三连闪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573268" y="4050792"/>
            <a:ext cx="0" cy="109728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4041648" y="4160520"/>
            <a:ext cx="3063240" cy="347472"/>
          </a:xfrm>
          <a:prstGeom prst="roundRect">
            <a:avLst>
              <a:gd name="adj" fmla="val 13158"/>
            </a:avLst>
          </a:prstGeom>
          <a:solidFill>
            <a:srgbClr val="EDF2EE"/>
          </a:solidFill>
          <a:ln w="19050">
            <a:solidFill>
              <a:srgbClr val="3F5A5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721608" y="41605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终帧 0x11（rise / lower 恒 0）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5664708" y="352958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是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1024128" y="329184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否 · 继续等（回计数窗）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3813048" y="3419856"/>
            <a:ext cx="0" cy="-1371600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813048" y="2048256"/>
            <a:ext cx="228600" cy="0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32" name="Text 29"/>
          <p:cNvSpPr/>
          <p:nvPr/>
        </p:nvSpPr>
        <p:spPr>
          <a:xfrm>
            <a:off x="548640" y="10515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异常出口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548640" y="2432304"/>
            <a:ext cx="2606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40080" y="2432304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计数窗满未达标
</a:t>
            </a:r>
            <a:pPr indent="0" marL="0">
              <a:buNone/>
            </a:pPr>
            <a:r>
              <a:rPr lang="en-US" sz="10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endReason = 3 · 黄慢闪 2 s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548640" y="3895344"/>
            <a:ext cx="2606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40080" y="3895344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窗内 0x04 取消
</a:t>
            </a:r>
            <a:pPr indent="0" marL="0">
              <a:buNone/>
            </a:pPr>
            <a:r>
              <a:rPr lang="en-US" sz="10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endReason = 6（无机械段）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548640" y="5358384"/>
            <a:ext cx="2606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40080" y="5358384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帧长 / tmo=0 非法
</a:t>
            </a:r>
            <a:pPr indent="0" marL="0">
              <a:buNone/>
            </a:pPr>
            <a:r>
              <a:rPr lang="en-US" sz="10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 = 2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8092440" y="1371600"/>
            <a:ext cx="3520440" cy="2377440"/>
          </a:xfrm>
          <a:prstGeom prst="roundRect">
            <a:avLst>
              <a:gd name="adj" fmla="val 2308"/>
            </a:avLst>
          </a:prstGeom>
          <a:solidFill>
            <a:srgbClr val="F5F7F4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211312" y="1481328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AM 消磁器 · 零控制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从上电到结束不下发任何参数 / 模式命令，按自身默认参数运行
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流程仅被动接收消磁结果帧计数
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一张消磁 0.75 ~ 26 s（重试补杀属正常，静默 3 s 结算）
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窗末突发未结算宽限至多 3 s 入账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8092440" y="4023360"/>
            <a:ext cx="3520440" cy="1554480"/>
          </a:xfrm>
          <a:prstGeom prst="roundRect">
            <a:avLst>
              <a:gd name="adj" fmla="val 3529"/>
            </a:avLst>
          </a:prstGeom>
          <a:solidFill>
            <a:srgbClr val="F5F7F4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8211312" y="4133088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全程不动电机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达标仅蜂鸣 1 s + 绿三连闪结账
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rise / lower 恒 0 · 无升起 / 保持 / 回降
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amCnt=0：受理即达标即时结账 ALL_OK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每张消磁成功由 0x0E 推送帧实时上报（done 累计计数）；整体进度经 0x09 进度查询拉取（phase=5 计数窗）。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灯控映射表（RGB 灯语）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解锁 · 灯语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726680" y="7955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颜色 / 节奏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0104120" y="795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含义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726680" y="1152144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9C2A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138160" y="114300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白 · 慢闪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0104120" y="11430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0x10 等待放置标签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726680" y="1463040"/>
            <a:ext cx="4206240" cy="0"/>
          </a:xfrm>
          <a:prstGeom prst="line">
            <a:avLst/>
          </a:prstGeom>
          <a:noFill/>
          <a:ln w="9525">
            <a:solidFill>
              <a:srgbClr val="E4E2D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26680" y="1499616"/>
            <a:ext cx="274320" cy="274320"/>
          </a:xfrm>
          <a:prstGeom prst="ellipse">
            <a:avLst/>
          </a:prstGeom>
          <a:solidFill>
            <a:srgbClr val="4D7CC7"/>
          </a:solidFill>
          <a:ln w="9525">
            <a:solidFill>
              <a:srgbClr val="C9C2A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38160" y="149047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蓝 · 慢闪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10104120" y="14904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0x10 盘点 / 校对进行中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726680" y="1810512"/>
            <a:ext cx="4206240" cy="0"/>
          </a:xfrm>
          <a:prstGeom prst="line">
            <a:avLst/>
          </a:prstGeom>
          <a:noFill/>
          <a:ln w="9525">
            <a:solidFill>
              <a:srgbClr val="E4E2D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726680" y="1847088"/>
            <a:ext cx="274320" cy="274320"/>
          </a:xfrm>
          <a:prstGeom prst="ellipse">
            <a:avLst/>
          </a:prstGeom>
          <a:solidFill>
            <a:srgbClr val="4D7CC7"/>
          </a:solidFill>
          <a:ln w="9525">
            <a:solidFill>
              <a:srgbClr val="C9C2A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138160" y="183794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蓝 · 单闪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10104120" y="183794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UHF 盘点读到一张标签（瞬时）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726680" y="2157984"/>
            <a:ext cx="4206240" cy="0"/>
          </a:xfrm>
          <a:prstGeom prst="line">
            <a:avLst/>
          </a:prstGeom>
          <a:noFill/>
          <a:ln w="9525">
            <a:solidFill>
              <a:srgbClr val="E4E2D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726680" y="2194560"/>
            <a:ext cx="274320" cy="274320"/>
          </a:xfrm>
          <a:prstGeom prst="ellipse">
            <a:avLst/>
          </a:prstGeom>
          <a:solidFill>
            <a:srgbClr val="3FA34D"/>
          </a:solidFill>
          <a:ln w="9525">
            <a:solidFill>
              <a:srgbClr val="C9C2A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138160" y="218541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绿 · 单闪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10104120" y="218541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0x10 期望标签确认（无蜂鸣）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726680" y="2505456"/>
            <a:ext cx="4206240" cy="0"/>
          </a:xfrm>
          <a:prstGeom prst="line">
            <a:avLst/>
          </a:prstGeom>
          <a:noFill/>
          <a:ln w="9525">
            <a:solidFill>
              <a:srgbClr val="E4E2D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726680" y="2542032"/>
            <a:ext cx="274320" cy="274320"/>
          </a:xfrm>
          <a:prstGeom prst="ellipse">
            <a:avLst/>
          </a:prstGeom>
          <a:solidFill>
            <a:srgbClr val="E04545"/>
          </a:solidFill>
          <a:ln w="9525">
            <a:solidFill>
              <a:srgbClr val="C9C2A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138160" y="253288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红 · 快闪 3 s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10104120" y="25328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0x10 外来（非期望）标签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7726680" y="2852928"/>
            <a:ext cx="4206240" cy="0"/>
          </a:xfrm>
          <a:prstGeom prst="line">
            <a:avLst/>
          </a:prstGeom>
          <a:noFill/>
          <a:ln w="9525">
            <a:solidFill>
              <a:srgbClr val="E4E2D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726680" y="2889504"/>
            <a:ext cx="274320" cy="274320"/>
          </a:xfrm>
          <a:prstGeom prst="ellipse">
            <a:avLst/>
          </a:prstGeom>
          <a:solidFill>
            <a:srgbClr val="3FA34D"/>
          </a:solidFill>
          <a:ln w="9525">
            <a:solidFill>
              <a:srgbClr val="C9C2A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138160" y="288036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绿 · 常亮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10104120" y="28803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0x10 已开锁（磁块升起保持）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7726680" y="3200400"/>
            <a:ext cx="4206240" cy="0"/>
          </a:xfrm>
          <a:prstGeom prst="line">
            <a:avLst/>
          </a:prstGeom>
          <a:noFill/>
          <a:ln w="9525">
            <a:solidFill>
              <a:srgbClr val="E4E2D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726680" y="3236976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9C2AD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138160" y="322783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白 · 常亮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10104120" y="32278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0x11 AM 计数窗（等待消磁）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7726680" y="3547872"/>
            <a:ext cx="4206240" cy="0"/>
          </a:xfrm>
          <a:prstGeom prst="line">
            <a:avLst/>
          </a:prstGeom>
          <a:noFill/>
          <a:ln w="9525">
            <a:solidFill>
              <a:srgbClr val="E4E2D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726680" y="3584448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9C2AD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138160" y="357530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白 · 单闪</a:t>
            </a:r>
            <a:endParaRPr lang="en-US" sz="1150" dirty="0"/>
          </a:p>
        </p:txBody>
      </p:sp>
      <p:sp>
        <p:nvSpPr>
          <p:cNvPr id="37" name="Text 34"/>
          <p:cNvSpPr/>
          <p:nvPr/>
        </p:nvSpPr>
        <p:spPr>
          <a:xfrm>
            <a:off x="10104120" y="357530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0x11 一张消磁成功（无蜂鸣）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7726680" y="3895344"/>
            <a:ext cx="4206240" cy="0"/>
          </a:xfrm>
          <a:prstGeom prst="line">
            <a:avLst/>
          </a:prstGeom>
          <a:noFill/>
          <a:ln w="9525">
            <a:solidFill>
              <a:srgbClr val="E4E2D8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7726680" y="3931920"/>
            <a:ext cx="274320" cy="274320"/>
          </a:xfrm>
          <a:prstGeom prst="ellipse">
            <a:avLst/>
          </a:prstGeom>
          <a:solidFill>
            <a:srgbClr val="E8C33C"/>
          </a:solidFill>
          <a:ln w="9525">
            <a:solidFill>
              <a:srgbClr val="C9C2AD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138160" y="392277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黄 · 慢闪 2 s</a:t>
            </a:r>
            <a:endParaRPr lang="en-US" sz="1150" dirty="0"/>
          </a:p>
        </p:txBody>
      </p:sp>
      <p:sp>
        <p:nvSpPr>
          <p:cNvPr id="41" name="Text 38"/>
          <p:cNvSpPr/>
          <p:nvPr/>
        </p:nvSpPr>
        <p:spPr>
          <a:xfrm>
            <a:off x="10104120" y="392277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超窗 / 周期失败（0x11 窗满）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7726680" y="4242816"/>
            <a:ext cx="4206240" cy="0"/>
          </a:xfrm>
          <a:prstGeom prst="line">
            <a:avLst/>
          </a:prstGeom>
          <a:noFill/>
          <a:ln w="9525">
            <a:solidFill>
              <a:srgbClr val="E4E2D8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726680" y="4279392"/>
            <a:ext cx="274320" cy="274320"/>
          </a:xfrm>
          <a:prstGeom prst="ellipse">
            <a:avLst/>
          </a:prstGeom>
          <a:solidFill>
            <a:srgbClr val="3FA34D"/>
          </a:solidFill>
          <a:ln w="9525">
            <a:solidFill>
              <a:srgbClr val="C9C2AD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138160" y="427024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绿 · 三连闪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2702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解锁流程完成（ALL_OK 鸣 1 s）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7726680" y="4590288"/>
            <a:ext cx="4206240" cy="0"/>
          </a:xfrm>
          <a:prstGeom prst="line">
            <a:avLst/>
          </a:prstGeom>
          <a:noFill/>
          <a:ln w="9525">
            <a:solidFill>
              <a:srgbClr val="E4E2D8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726680" y="4626864"/>
            <a:ext cx="274320" cy="274320"/>
          </a:xfrm>
          <a:prstGeom prst="ellipse">
            <a:avLst/>
          </a:prstGeom>
          <a:solidFill>
            <a:srgbClr val="E04545"/>
          </a:solidFill>
          <a:ln w="9525">
            <a:solidFill>
              <a:srgbClr val="C9C2AD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8138160" y="461772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红 · 双闪</a:t>
            </a:r>
            <a:endParaRPr lang="en-US" sz="1150" dirty="0"/>
          </a:p>
        </p:txBody>
      </p:sp>
      <p:sp>
        <p:nvSpPr>
          <p:cNvPr id="49" name="Text 46"/>
          <p:cNvSpPr/>
          <p:nvPr/>
        </p:nvSpPr>
        <p:spPr>
          <a:xfrm>
            <a:off x="10104120" y="46177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链路失败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7726680" y="4937760"/>
            <a:ext cx="4206240" cy="0"/>
          </a:xfrm>
          <a:prstGeom prst="line">
            <a:avLst/>
          </a:prstGeom>
          <a:noFill/>
          <a:ln w="9525">
            <a:solidFill>
              <a:srgbClr val="E4E2D8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7726680" y="4974336"/>
            <a:ext cx="274320" cy="274320"/>
          </a:xfrm>
          <a:prstGeom prst="ellipse">
            <a:avLst/>
          </a:prstGeom>
          <a:solidFill>
            <a:srgbClr val="E04545"/>
          </a:solidFill>
          <a:ln w="9525">
            <a:solidFill>
              <a:srgbClr val="C9C2AD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8138160" y="496519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红 · 常亮</a:t>
            </a:r>
            <a:endParaRPr lang="en-US" sz="1150" dirty="0"/>
          </a:p>
        </p:txBody>
      </p:sp>
      <p:sp>
        <p:nvSpPr>
          <p:cNvPr id="53" name="Text 50"/>
          <p:cNvSpPr/>
          <p:nvPr/>
        </p:nvSpPr>
        <p:spPr>
          <a:xfrm>
            <a:off x="10104120" y="49651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设备故障</a:t>
            </a:r>
            <a:endParaRPr lang="en-US" sz="1100" dirty="0"/>
          </a:p>
        </p:txBody>
      </p:sp>
      <p:sp>
        <p:nvSpPr>
          <p:cNvPr id="54" name="Shape 51"/>
          <p:cNvSpPr/>
          <p:nvPr/>
        </p:nvSpPr>
        <p:spPr>
          <a:xfrm>
            <a:off x="7726680" y="5285232"/>
            <a:ext cx="4206240" cy="0"/>
          </a:xfrm>
          <a:prstGeom prst="line">
            <a:avLst/>
          </a:prstGeom>
          <a:noFill/>
          <a:ln w="9525">
            <a:solidFill>
              <a:srgbClr val="E4E2D8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7726680" y="5321808"/>
            <a:ext cx="274320" cy="274320"/>
          </a:xfrm>
          <a:prstGeom prst="ellipse">
            <a:avLst/>
          </a:prstGeom>
          <a:solidFill>
            <a:srgbClr val="E8C33C"/>
          </a:solidFill>
          <a:ln w="9525">
            <a:solidFill>
              <a:srgbClr val="C9C2AD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8138160" y="531266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黄 · 快闪</a:t>
            </a:r>
            <a:endParaRPr lang="en-US" sz="1150" dirty="0"/>
          </a:p>
        </p:txBody>
      </p:sp>
      <p:sp>
        <p:nvSpPr>
          <p:cNvPr id="57" name="Text 54"/>
          <p:cNvSpPr/>
          <p:nvPr/>
        </p:nvSpPr>
        <p:spPr>
          <a:xfrm>
            <a:off x="10104120" y="53126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行程开关异常（上行程）</a:t>
            </a:r>
            <a:endParaRPr lang="en-US" sz="1100" dirty="0"/>
          </a:p>
        </p:txBody>
      </p:sp>
      <p:sp>
        <p:nvSpPr>
          <p:cNvPr id="58" name="Shape 55"/>
          <p:cNvSpPr/>
          <p:nvPr/>
        </p:nvSpPr>
        <p:spPr>
          <a:xfrm>
            <a:off x="7726680" y="5632704"/>
            <a:ext cx="4206240" cy="0"/>
          </a:xfrm>
          <a:prstGeom prst="line">
            <a:avLst/>
          </a:prstGeom>
          <a:noFill/>
          <a:ln w="9525">
            <a:solidFill>
              <a:srgbClr val="E4E2D8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7726680" y="5669280"/>
            <a:ext cx="274320" cy="274320"/>
          </a:xfrm>
          <a:prstGeom prst="ellipse">
            <a:avLst/>
          </a:prstGeom>
          <a:solidFill>
            <a:srgbClr val="C355B5"/>
          </a:solidFill>
          <a:ln w="9525">
            <a:solidFill>
              <a:srgbClr val="C9C2AD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8138160" y="566013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紫 · 快闪</a:t>
            </a:r>
            <a:endParaRPr lang="en-US" sz="1150" dirty="0"/>
          </a:p>
        </p:txBody>
      </p:sp>
      <p:sp>
        <p:nvSpPr>
          <p:cNvPr id="61" name="Text 58"/>
          <p:cNvSpPr/>
          <p:nvPr/>
        </p:nvSpPr>
        <p:spPr>
          <a:xfrm>
            <a:off x="10104120" y="566013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行程开关异常（下行程）</a:t>
            </a:r>
            <a:endParaRPr lang="en-US" sz="1100" dirty="0"/>
          </a:p>
        </p:txBody>
      </p:sp>
      <p:sp>
        <p:nvSpPr>
          <p:cNvPr id="62" name="Shape 59"/>
          <p:cNvSpPr/>
          <p:nvPr/>
        </p:nvSpPr>
        <p:spPr>
          <a:xfrm>
            <a:off x="7726680" y="5980176"/>
            <a:ext cx="4206240" cy="0"/>
          </a:xfrm>
          <a:prstGeom prst="line">
            <a:avLst/>
          </a:prstGeom>
          <a:noFill/>
          <a:ln w="9525">
            <a:solidFill>
              <a:srgbClr val="E4E2D8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7726680" y="6016752"/>
            <a:ext cx="274320" cy="274320"/>
          </a:xfrm>
          <a:prstGeom prst="ellipse">
            <a:avLst/>
          </a:prstGeom>
          <a:solidFill>
            <a:srgbClr val="E8C33C"/>
          </a:solidFill>
          <a:ln w="9525">
            <a:solidFill>
              <a:srgbClr val="C9C2AD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8138160" y="600760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黄 · 慢闪</a:t>
            </a:r>
            <a:endParaRPr lang="en-US" sz="1150" dirty="0"/>
          </a:p>
        </p:txBody>
      </p:sp>
      <p:sp>
        <p:nvSpPr>
          <p:cNvPr id="65" name="Text 62"/>
          <p:cNvSpPr/>
          <p:nvPr/>
        </p:nvSpPr>
        <p:spPr>
          <a:xfrm>
            <a:off x="10104120" y="60076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回零 / 自检进行中</a:t>
            </a:r>
            <a:endParaRPr lang="en-US" sz="1100" dirty="0"/>
          </a:p>
        </p:txBody>
      </p:sp>
      <p:sp>
        <p:nvSpPr>
          <p:cNvPr id="66" name="Shape 63"/>
          <p:cNvSpPr/>
          <p:nvPr/>
        </p:nvSpPr>
        <p:spPr>
          <a:xfrm>
            <a:off x="7726680" y="6327648"/>
            <a:ext cx="4206240" cy="0"/>
          </a:xfrm>
          <a:prstGeom prst="line">
            <a:avLst/>
          </a:prstGeom>
          <a:noFill/>
          <a:ln w="9525">
            <a:solidFill>
              <a:srgbClr val="E4E2D8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548640" y="1143000"/>
            <a:ext cx="6720840" cy="4846320"/>
          </a:xfrm>
          <a:prstGeom prst="roundRect">
            <a:avLst>
              <a:gd name="adj" fmla="val 1509"/>
            </a:avLst>
          </a:prstGeom>
          <a:solidFill>
            <a:srgbClr val="FFFFFF">
              <a:alpha val="75000"/>
            </a:srgbClr>
          </a:solidFill>
          <a:ln w="15875">
            <a:solidFill>
              <a:srgbClr val="C8B27E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868680" y="141732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灯语说明</a:t>
            </a:r>
            <a:endParaRPr lang="en-US" sz="1600" dirty="0"/>
          </a:p>
        </p:txBody>
      </p:sp>
      <p:sp>
        <p:nvSpPr>
          <p:cNvPr id="69" name="Text 66"/>
          <p:cNvSpPr/>
          <p:nvPr/>
        </p:nvSpPr>
        <p:spPr>
          <a:xfrm>
            <a:off x="868680" y="1965960"/>
            <a:ext cx="63093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30000"/>
              </a:lnSpc>
              <a:spcAft>
                <a:spcPts val="1400"/>
              </a:spcAft>
              <a:buSzPct val="100000"/>
              <a:buChar char="–"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灯语与流程阶段一一对应，操作人员凭灯光颜色与节奏即可判断当前进度；单闪类（蓝 / 绿 / 白）为瞬时提示，闪毕回落当前阶段稳态灯语。</a:t>
            </a:r>
            <a:endParaRPr lang="en-US" sz="1350" dirty="0"/>
          </a:p>
          <a:p>
            <a:pPr marL="152400" indent="-152400">
              <a:lnSpc>
                <a:spcPct val="130000"/>
              </a:lnSpc>
              <a:spcAft>
                <a:spcPts val="1400"/>
              </a:spcAft>
              <a:buSzPct val="100000"/>
              <a:buChar char="–"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蜂鸣仅两处：0x10 周期成功下回启动鸣 800 ms、流程结束 ALL_OK 鸣 1 s（伴随绿三连闪）；标签确认与 AM 每张消磁均无蜂鸣，中途移走 / 更换标签静默回退，超时 / 取消无鸣。</a:t>
            </a:r>
            <a:endParaRPr lang="en-US" sz="1350" dirty="0"/>
          </a:p>
          <a:p>
            <a:pPr marL="152400" indent="-152400">
              <a:lnSpc>
                <a:spcPct val="130000"/>
              </a:lnSpc>
              <a:spcAft>
                <a:spcPts val="1400"/>
              </a:spcAft>
              <a:buSzPct val="100000"/>
              <a:buChar char="–"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上位机可以 0x24 手动设置灯色（设备空闲时），10 s 后自动回收，业务灯语优先。</a:t>
            </a:r>
            <a:endParaRPr lang="en-US" sz="1350" dirty="0"/>
          </a:p>
          <a:p>
            <a:pPr marL="152400" indent="-152400">
              <a:lnSpc>
                <a:spcPct val="130000"/>
              </a:lnSpc>
              <a:spcAft>
                <a:spcPts val="1400"/>
              </a:spcAft>
              <a:buSzPct val="100000"/>
              <a:buChar char="–"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紫 / 黄快闪为行程开关异常诊断灯语（优先级最高）：上行程异常 = 黄快闪、下行程异常 = 紫快闪、两路同错亦显黄快闪；应停机检修并联系厂商。</a:t>
            </a:r>
            <a:endParaRPr lang="en-US" sz="1350" dirty="0"/>
          </a:p>
          <a:p>
            <a:pPr marL="152400" indent="-152400">
              <a:lnSpc>
                <a:spcPct val="130000"/>
              </a:lnSpc>
              <a:spcAft>
                <a:spcPts val="1400"/>
              </a:spcAft>
              <a:buSzPct val="100000"/>
              <a:buChar char="–"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红灯常亮表示设备故障（行程开关异常除外，见紫 / 黄快闪），请结合 0x23 05 状态查询定位原因。</a:t>
            </a:r>
            <a:endParaRPr lang="en-US" sz="13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 flipH="1" flipV="1">
            <a:off x="8074152" y="4480560"/>
            <a:ext cx="4114800" cy="23774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2697480"/>
            <a:ext cx="2194560" cy="0"/>
          </a:xfrm>
          <a:prstGeom prst="line">
            <a:avLst/>
          </a:prstGeom>
          <a:noFill/>
          <a:ln w="19050">
            <a:solidFill>
              <a:srgbClr val="C8B27E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2971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V1.3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548640" y="3886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V1.3 于 2026-09-20 发布：解锁章改为 0x10 EPC + 0x11 AM 双通道，0x0A 停用；消磁器自主运行、不受设备控制，AM 控制命令移除；蜂鸣仅保留周期成功与流程结束两处。历史变更见版本说明。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ZLR5401 应用层通信协议 V1.3</dc:title>
  <dc:subject>PptxGenJS Presentation</dc:subject>
  <dc:creator>ZLR5401</dc:creator>
  <cp:lastModifiedBy>ZLR5401</cp:lastModifiedBy>
  <cp:revision>1</cp:revision>
  <dcterms:created xsi:type="dcterms:W3CDTF">2026-09-20T02:39:58Z</dcterms:created>
  <dcterms:modified xsi:type="dcterms:W3CDTF">2026-09-20T02:39:58Z</dcterms:modified>
</cp:coreProperties>
</file>